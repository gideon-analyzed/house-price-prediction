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4"/>
  </p:sldMasterIdLst>
  <p:notesMasterIdLst>
    <p:notesMasterId r:id="rId16"/>
  </p:notesMasterIdLst>
  <p:sldIdLst>
    <p:sldId id="317" r:id="rId5"/>
    <p:sldId id="258" r:id="rId6"/>
    <p:sldId id="309" r:id="rId7"/>
    <p:sldId id="308" r:id="rId8"/>
    <p:sldId id="310" r:id="rId9"/>
    <p:sldId id="306" r:id="rId10"/>
    <p:sldId id="270" r:id="rId11"/>
    <p:sldId id="262" r:id="rId12"/>
    <p:sldId id="282" r:id="rId13"/>
    <p:sldId id="274" r:id="rId14"/>
    <p:sldId id="316" r:id="rId15"/>
  </p:sldIdLst>
  <p:sldSz cx="9144000" cy="5143500" type="screen16x9"/>
  <p:notesSz cx="6858000" cy="9144000"/>
  <p:embeddedFontLst>
    <p:embeddedFont>
      <p:font typeface="Barlow Semi Condensed" panose="020B0604020202020204" charset="0"/>
      <p:regular r:id="rId17"/>
      <p:bold r:id="rId18"/>
      <p:italic r:id="rId19"/>
      <p:boldItalic r:id="rId20"/>
    </p:embeddedFont>
    <p:embeddedFont>
      <p:font typeface="Barlow Semi Condensed Medium" panose="020B0604020202020204" charset="0"/>
      <p:regular r:id="rId21"/>
      <p:bold r:id="rId22"/>
      <p:italic r:id="rId23"/>
      <p:boldItalic r:id="rId24"/>
    </p:embeddedFont>
    <p:embeddedFont>
      <p:font typeface="Fjalla One" panose="020B060402020202020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741F96-0FDC-470E-8C11-64D995D6C7CF}">
  <a:tblStyle styleId="{D8741F96-0FDC-470E-8C11-64D995D6C7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0" y="19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6904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071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551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5403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958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8714a43093_1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8714a43093_1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Google Shape;3495;g881d70bc06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6" name="Google Shape;3496;g881d70bc06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g8714a43093_1_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7" name="Google Shape;3007;g8714a43093_1_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>
            <a:spLocks noGrp="1"/>
          </p:cNvSpPr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11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11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4" name="Google Shape;1084;p21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5" name="Google Shape;1085;p21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6" name="Google Shape;1086;p21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7" name="Google Shape;1087;p21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8" name="Google Shape;1088;p21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9" name="Google Shape;1089;p21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E54967CB-4FF0-47B3-B014-8E2EE7B2043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7" r:id="rId12"/>
    <p:sldLayoutId id="2147483670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>
            <a:spLocks noGrp="1"/>
          </p:cNvSpPr>
          <p:nvPr>
            <p:ph type="ctrTitle" idx="4294967295"/>
          </p:nvPr>
        </p:nvSpPr>
        <p:spPr>
          <a:xfrm>
            <a:off x="3657600" y="576280"/>
            <a:ext cx="5339589" cy="30917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-US" sz="5000" b="1" dirty="0">
                <a:solidFill>
                  <a:schemeClr val="dk2"/>
                </a:solidFill>
              </a:rPr>
              <a:t>HOMEVALUE </a:t>
            </a:r>
            <a:br>
              <a:rPr lang="en-US" sz="5000" b="1" dirty="0">
                <a:solidFill>
                  <a:schemeClr val="dk2"/>
                </a:solidFill>
              </a:rPr>
            </a:br>
            <a:r>
              <a:rPr lang="en-US" sz="5000" b="1" dirty="0">
                <a:solidFill>
                  <a:schemeClr val="dk2"/>
                </a:solidFill>
              </a:rPr>
              <a:t>ANALYTICS </a:t>
            </a:r>
            <a:br>
              <a:rPr lang="en-US" sz="5000" b="1" dirty="0">
                <a:solidFill>
                  <a:schemeClr val="dk2"/>
                </a:solidFill>
              </a:rPr>
            </a:b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Analysing House Prices </a:t>
            </a:r>
            <a:br>
              <a:rPr lang="en-GB" dirty="0"/>
            </a:br>
            <a:r>
              <a:rPr lang="en-GB" dirty="0"/>
              <a:t>for Smarter </a:t>
            </a:r>
            <a:br>
              <a:rPr lang="en-GB" dirty="0"/>
            </a:br>
            <a:r>
              <a:rPr lang="en-GB" dirty="0"/>
              <a:t>Pricing Decisions</a:t>
            </a:r>
            <a:endParaRPr sz="50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4294967295"/>
          </p:nvPr>
        </p:nvSpPr>
        <p:spPr>
          <a:xfrm>
            <a:off x="4847243" y="4109898"/>
            <a:ext cx="4149946" cy="8969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chemeClr val="accent1"/>
                </a:solidFill>
                <a:latin typeface="Barlow Semi Condensed" panose="00000506000000000000" pitchFamily="2" charset="0"/>
              </a:rPr>
              <a:t>Analysis</a:t>
            </a:r>
            <a:r>
              <a:rPr lang="en" sz="2000" dirty="0">
                <a:solidFill>
                  <a:schemeClr val="accent1"/>
                </a:solidFill>
                <a:latin typeface="Barlow Semi Condensed" panose="00000506000000000000" pitchFamily="2" charset="0"/>
              </a:rPr>
              <a:t> by;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i="1" dirty="0">
                <a:solidFill>
                  <a:schemeClr val="accent1"/>
                </a:solidFill>
                <a:latin typeface="Barlow Semi Condensed" panose="00000506000000000000" pitchFamily="2" charset="0"/>
              </a:rPr>
              <a:t>(aspiring)</a:t>
            </a:r>
            <a:r>
              <a:rPr lang="en-GB" sz="2000" i="1" dirty="0">
                <a:solidFill>
                  <a:schemeClr val="accent1"/>
                </a:solidFill>
                <a:latin typeface="Barlow Semi Condensed" panose="00000506000000000000" pitchFamily="2" charset="0"/>
              </a:rPr>
              <a:t>Dr. </a:t>
            </a:r>
            <a:r>
              <a:rPr lang="en" sz="2000" i="1" dirty="0">
                <a:solidFill>
                  <a:schemeClr val="accent1"/>
                </a:solidFill>
                <a:latin typeface="Barlow Semi Condensed" panose="00000506000000000000" pitchFamily="2" charset="0"/>
              </a:rPr>
              <a:t>Paul Gideon WABWIRE</a:t>
            </a:r>
            <a:endParaRPr sz="2000" i="1" dirty="0">
              <a:solidFill>
                <a:schemeClr val="accent1"/>
              </a:solidFill>
              <a:latin typeface="Barlow Semi Condensed" panose="00000506000000000000" pitchFamily="2" charset="0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i="1" dirty="0">
              <a:solidFill>
                <a:schemeClr val="accent1"/>
              </a:solidFill>
              <a:latin typeface="Barlow Semi Condensed" panose="00000506000000000000" pitchFamily="2" charset="0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accent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4EEB4A9-6352-4B21-9BFD-F6F64C721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258" y="19050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882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5" name="Google Shape;2115;p37"/>
          <p:cNvGrpSpPr/>
          <p:nvPr/>
        </p:nvGrpSpPr>
        <p:grpSpPr>
          <a:xfrm>
            <a:off x="731304" y="1326478"/>
            <a:ext cx="734136" cy="749522"/>
            <a:chOff x="917231" y="1827973"/>
            <a:chExt cx="635100" cy="635100"/>
          </a:xfrm>
        </p:grpSpPr>
        <p:sp>
          <p:nvSpPr>
            <p:cNvPr id="2116" name="Google Shape;2116;p37"/>
            <p:cNvSpPr/>
            <p:nvPr/>
          </p:nvSpPr>
          <p:spPr>
            <a:xfrm>
              <a:off x="917231" y="1827973"/>
              <a:ext cx="635100" cy="6351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37"/>
            <p:cNvSpPr/>
            <p:nvPr/>
          </p:nvSpPr>
          <p:spPr>
            <a:xfrm>
              <a:off x="1001931" y="1912710"/>
              <a:ext cx="465600" cy="4656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3" name="Google Shape;2123;p37"/>
          <p:cNvGrpSpPr/>
          <p:nvPr/>
        </p:nvGrpSpPr>
        <p:grpSpPr>
          <a:xfrm>
            <a:off x="730382" y="2597781"/>
            <a:ext cx="734135" cy="749522"/>
            <a:chOff x="917231" y="2905502"/>
            <a:chExt cx="635100" cy="635100"/>
          </a:xfrm>
        </p:grpSpPr>
        <p:sp>
          <p:nvSpPr>
            <p:cNvPr id="2124" name="Google Shape;2124;p37"/>
            <p:cNvSpPr/>
            <p:nvPr/>
          </p:nvSpPr>
          <p:spPr>
            <a:xfrm>
              <a:off x="917231" y="2905502"/>
              <a:ext cx="635100" cy="6351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7"/>
            <p:cNvSpPr/>
            <p:nvPr/>
          </p:nvSpPr>
          <p:spPr>
            <a:xfrm>
              <a:off x="1001931" y="2990252"/>
              <a:ext cx="465600" cy="4656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1" name="Google Shape;2131;p37"/>
          <p:cNvGrpSpPr/>
          <p:nvPr/>
        </p:nvGrpSpPr>
        <p:grpSpPr>
          <a:xfrm>
            <a:off x="715290" y="3770399"/>
            <a:ext cx="750150" cy="749522"/>
            <a:chOff x="917231" y="3983097"/>
            <a:chExt cx="635100" cy="635100"/>
          </a:xfrm>
        </p:grpSpPr>
        <p:sp>
          <p:nvSpPr>
            <p:cNvPr id="2132" name="Google Shape;2132;p37"/>
            <p:cNvSpPr/>
            <p:nvPr/>
          </p:nvSpPr>
          <p:spPr>
            <a:xfrm>
              <a:off x="917231" y="3983097"/>
              <a:ext cx="635100" cy="6351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7"/>
            <p:cNvSpPr/>
            <p:nvPr/>
          </p:nvSpPr>
          <p:spPr>
            <a:xfrm>
              <a:off x="1001931" y="4067797"/>
              <a:ext cx="465600" cy="4656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2596938" y="323323"/>
            <a:ext cx="3950124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Presentation Outline</a:t>
            </a:r>
            <a:endParaRPr sz="3200" b="1" dirty="0"/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664207" y="943849"/>
            <a:ext cx="3271208" cy="4384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Price Predictor Analysis</a:t>
            </a:r>
            <a:endParaRPr sz="2400" dirty="0"/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666491" y="1326478"/>
            <a:ext cx="3039152" cy="8752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/>
              <a:t>Brief analysis on what influences the price of a house</a:t>
            </a:r>
            <a:endParaRPr sz="1800" dirty="0"/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664208" y="2266882"/>
            <a:ext cx="2615100" cy="3665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Pricing and Impact</a:t>
            </a:r>
            <a:endParaRPr sz="2400" dirty="0"/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658455" y="2626047"/>
            <a:ext cx="2615100" cy="8264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/>
              <a:t>Overview of all house price predictors and implications</a:t>
            </a:r>
            <a:endParaRPr sz="1800" dirty="0"/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666491" y="3575538"/>
            <a:ext cx="2615100" cy="463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Recommendations</a:t>
            </a:r>
            <a:endParaRPr sz="2400" dirty="0"/>
          </a:p>
        </p:txBody>
      </p:sp>
      <p:sp>
        <p:nvSpPr>
          <p:cNvPr id="2146" name="Google Shape;2146;p37"/>
          <p:cNvSpPr txBox="1">
            <a:spLocks noGrp="1"/>
          </p:cNvSpPr>
          <p:nvPr>
            <p:ph type="subTitle" idx="8"/>
          </p:nvPr>
        </p:nvSpPr>
        <p:spPr>
          <a:xfrm>
            <a:off x="1666491" y="3943921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/>
              <a:t>Key take away from the housing data analysis</a:t>
            </a:r>
            <a:endParaRPr sz="1800" dirty="0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15334" y="1530906"/>
            <a:ext cx="530328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01</a:t>
            </a:r>
            <a:endParaRPr sz="2400" dirty="0"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00514" y="2808409"/>
            <a:ext cx="538204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02</a:t>
            </a:r>
            <a:endParaRPr sz="2400" dirty="0"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836105" y="3971401"/>
            <a:ext cx="518464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03</a:t>
            </a:r>
            <a:endParaRPr sz="24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47B4AD4-6B32-4834-96AB-5032F5794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4903" y="1078339"/>
            <a:ext cx="3341504" cy="33415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1" grpId="0" build="p"/>
      <p:bldP spid="2142" grpId="0" build="p"/>
      <p:bldP spid="2143" grpId="0" build="p"/>
      <p:bldP spid="2144" grpId="0" build="p"/>
      <p:bldP spid="2145" grpId="0" build="p"/>
      <p:bldP spid="214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B4E0A5-A37E-495A-AA38-9B263F482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938" y="274953"/>
            <a:ext cx="5510922" cy="459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92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AD9493-ADE6-4728-B5D8-52142E090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924" y="333409"/>
            <a:ext cx="6722151" cy="447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336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28BCF2-418F-4BF1-8B0F-B3E1F9FC6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746" y="290184"/>
            <a:ext cx="5790507" cy="456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46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08;p43">
            <a:extLst>
              <a:ext uri="{FF2B5EF4-FFF2-40B4-BE49-F238E27FC236}">
                <a16:creationId xmlns:a16="http://schemas.microsoft.com/office/drawing/2014/main" id="{4FA30985-4C11-450B-8453-692BD24A98D5}"/>
              </a:ext>
            </a:extLst>
          </p:cNvPr>
          <p:cNvSpPr txBox="1">
            <a:spLocks/>
          </p:cNvSpPr>
          <p:nvPr/>
        </p:nvSpPr>
        <p:spPr>
          <a:xfrm>
            <a:off x="1824037" y="292105"/>
            <a:ext cx="5495925" cy="5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ctr"/>
            <a:r>
              <a:rPr lang="en-GB" sz="3200" b="1" dirty="0"/>
              <a:t>Predictor’s Monetary Impact</a:t>
            </a:r>
          </a:p>
        </p:txBody>
      </p:sp>
      <p:grpSp>
        <p:nvGrpSpPr>
          <p:cNvPr id="5" name="Google Shape;2314;p43">
            <a:extLst>
              <a:ext uri="{FF2B5EF4-FFF2-40B4-BE49-F238E27FC236}">
                <a16:creationId xmlns:a16="http://schemas.microsoft.com/office/drawing/2014/main" id="{B2577C86-228F-4D22-9231-8BFDAEF7D791}"/>
              </a:ext>
            </a:extLst>
          </p:cNvPr>
          <p:cNvGrpSpPr/>
          <p:nvPr/>
        </p:nvGrpSpPr>
        <p:grpSpPr>
          <a:xfrm>
            <a:off x="3492644" y="1129978"/>
            <a:ext cx="886061" cy="881044"/>
            <a:chOff x="6293934" y="1010648"/>
            <a:chExt cx="1245900" cy="1245900"/>
          </a:xfrm>
        </p:grpSpPr>
        <p:sp>
          <p:nvSpPr>
            <p:cNvPr id="6" name="Google Shape;2315;p43">
              <a:extLst>
                <a:ext uri="{FF2B5EF4-FFF2-40B4-BE49-F238E27FC236}">
                  <a16:creationId xmlns:a16="http://schemas.microsoft.com/office/drawing/2014/main" id="{94D2A703-21A1-48D3-8ADE-F2595B72B2E6}"/>
                </a:ext>
              </a:extLst>
            </p:cNvPr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2316;p43">
              <a:extLst>
                <a:ext uri="{FF2B5EF4-FFF2-40B4-BE49-F238E27FC236}">
                  <a16:creationId xmlns:a16="http://schemas.microsoft.com/office/drawing/2014/main" id="{68A32783-2E75-401F-AC0F-A32738F89ADE}"/>
                </a:ext>
              </a:extLst>
            </p:cNvPr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2317;p43">
            <a:extLst>
              <a:ext uri="{FF2B5EF4-FFF2-40B4-BE49-F238E27FC236}">
                <a16:creationId xmlns:a16="http://schemas.microsoft.com/office/drawing/2014/main" id="{AEDEEC1E-C92F-47A5-889D-84F44CE447BA}"/>
              </a:ext>
            </a:extLst>
          </p:cNvPr>
          <p:cNvSpPr txBox="1"/>
          <p:nvPr/>
        </p:nvSpPr>
        <p:spPr>
          <a:xfrm>
            <a:off x="3495892" y="1253012"/>
            <a:ext cx="877800" cy="62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£ </a:t>
            </a:r>
            <a:r>
              <a:rPr lang="en" sz="32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251</a:t>
            </a:r>
            <a:r>
              <a:rPr lang="en-GB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</a:t>
            </a:r>
          </a:p>
          <a:p>
            <a:pPr lvl="0" algn="ctr"/>
            <a:r>
              <a:rPr lang="en-GB" sz="11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000</a:t>
            </a:r>
            <a:endParaRPr sz="24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9" name="Google Shape;2320;p43">
            <a:extLst>
              <a:ext uri="{FF2B5EF4-FFF2-40B4-BE49-F238E27FC236}">
                <a16:creationId xmlns:a16="http://schemas.microsoft.com/office/drawing/2014/main" id="{A357E744-FFB4-4C47-96A9-00884A123A7B}"/>
              </a:ext>
            </a:extLst>
          </p:cNvPr>
          <p:cNvSpPr txBox="1"/>
          <p:nvPr/>
        </p:nvSpPr>
        <p:spPr>
          <a:xfrm>
            <a:off x="1141575" y="1317603"/>
            <a:ext cx="2327368" cy="45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Square Footage 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" name="Google Shape;2111;p37">
            <a:extLst>
              <a:ext uri="{FF2B5EF4-FFF2-40B4-BE49-F238E27FC236}">
                <a16:creationId xmlns:a16="http://schemas.microsoft.com/office/drawing/2014/main" id="{0EE1D45E-57B2-4FBA-8C37-C6BCBE94B058}"/>
              </a:ext>
            </a:extLst>
          </p:cNvPr>
          <p:cNvSpPr/>
          <p:nvPr/>
        </p:nvSpPr>
        <p:spPr>
          <a:xfrm>
            <a:off x="3909026" y="2126972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11" name="Google Shape;2111;p37">
            <a:extLst>
              <a:ext uri="{FF2B5EF4-FFF2-40B4-BE49-F238E27FC236}">
                <a16:creationId xmlns:a16="http://schemas.microsoft.com/office/drawing/2014/main" id="{CE005951-8FF3-40C7-A4E5-C61C2CAC8B77}"/>
              </a:ext>
            </a:extLst>
          </p:cNvPr>
          <p:cNvSpPr/>
          <p:nvPr/>
        </p:nvSpPr>
        <p:spPr>
          <a:xfrm>
            <a:off x="3993165" y="2125883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12" name="Google Shape;2111;p37">
            <a:extLst>
              <a:ext uri="{FF2B5EF4-FFF2-40B4-BE49-F238E27FC236}">
                <a16:creationId xmlns:a16="http://schemas.microsoft.com/office/drawing/2014/main" id="{FF7CA7AA-08B2-4A11-AAF8-3DFD5E658675}"/>
              </a:ext>
            </a:extLst>
          </p:cNvPr>
          <p:cNvSpPr/>
          <p:nvPr/>
        </p:nvSpPr>
        <p:spPr>
          <a:xfrm>
            <a:off x="3824887" y="2126972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13" name="Google Shape;2314;p43">
            <a:extLst>
              <a:ext uri="{FF2B5EF4-FFF2-40B4-BE49-F238E27FC236}">
                <a16:creationId xmlns:a16="http://schemas.microsoft.com/office/drawing/2014/main" id="{175A4ECF-E080-460C-8550-5BF839801516}"/>
              </a:ext>
            </a:extLst>
          </p:cNvPr>
          <p:cNvGrpSpPr/>
          <p:nvPr/>
        </p:nvGrpSpPr>
        <p:grpSpPr>
          <a:xfrm>
            <a:off x="3480913" y="2396090"/>
            <a:ext cx="886061" cy="881044"/>
            <a:chOff x="6293934" y="1010648"/>
            <a:chExt cx="1245900" cy="1245900"/>
          </a:xfrm>
        </p:grpSpPr>
        <p:sp>
          <p:nvSpPr>
            <p:cNvPr id="14" name="Google Shape;2315;p43">
              <a:extLst>
                <a:ext uri="{FF2B5EF4-FFF2-40B4-BE49-F238E27FC236}">
                  <a16:creationId xmlns:a16="http://schemas.microsoft.com/office/drawing/2014/main" id="{D867812A-1A53-48C1-AEC4-1DB52B09AB77}"/>
                </a:ext>
              </a:extLst>
            </p:cNvPr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2316;p43">
              <a:extLst>
                <a:ext uri="{FF2B5EF4-FFF2-40B4-BE49-F238E27FC236}">
                  <a16:creationId xmlns:a16="http://schemas.microsoft.com/office/drawing/2014/main" id="{480211B3-88C2-461B-93BE-12AAF3E33653}"/>
                </a:ext>
              </a:extLst>
            </p:cNvPr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2111;p37">
            <a:extLst>
              <a:ext uri="{FF2B5EF4-FFF2-40B4-BE49-F238E27FC236}">
                <a16:creationId xmlns:a16="http://schemas.microsoft.com/office/drawing/2014/main" id="{FB0FEED5-27DD-4960-B7F2-5D3E5DA65F05}"/>
              </a:ext>
            </a:extLst>
          </p:cNvPr>
          <p:cNvSpPr/>
          <p:nvPr/>
        </p:nvSpPr>
        <p:spPr>
          <a:xfrm>
            <a:off x="3897295" y="3393084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17" name="Google Shape;2111;p37">
            <a:extLst>
              <a:ext uri="{FF2B5EF4-FFF2-40B4-BE49-F238E27FC236}">
                <a16:creationId xmlns:a16="http://schemas.microsoft.com/office/drawing/2014/main" id="{B14291F7-12C3-4D7A-AC71-E2E1FB506E28}"/>
              </a:ext>
            </a:extLst>
          </p:cNvPr>
          <p:cNvSpPr/>
          <p:nvPr/>
        </p:nvSpPr>
        <p:spPr>
          <a:xfrm>
            <a:off x="3981434" y="3391995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18" name="Google Shape;2111;p37">
            <a:extLst>
              <a:ext uri="{FF2B5EF4-FFF2-40B4-BE49-F238E27FC236}">
                <a16:creationId xmlns:a16="http://schemas.microsoft.com/office/drawing/2014/main" id="{95AFE3A4-9406-45BC-9635-1DC24F426BB7}"/>
              </a:ext>
            </a:extLst>
          </p:cNvPr>
          <p:cNvSpPr/>
          <p:nvPr/>
        </p:nvSpPr>
        <p:spPr>
          <a:xfrm>
            <a:off x="3813156" y="3393084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19" name="Google Shape;2314;p43">
            <a:extLst>
              <a:ext uri="{FF2B5EF4-FFF2-40B4-BE49-F238E27FC236}">
                <a16:creationId xmlns:a16="http://schemas.microsoft.com/office/drawing/2014/main" id="{E64C98CF-E69F-436E-AE24-44398446AB34}"/>
              </a:ext>
            </a:extLst>
          </p:cNvPr>
          <p:cNvGrpSpPr/>
          <p:nvPr/>
        </p:nvGrpSpPr>
        <p:grpSpPr>
          <a:xfrm>
            <a:off x="3469202" y="3656310"/>
            <a:ext cx="886061" cy="881044"/>
            <a:chOff x="6293934" y="1010648"/>
            <a:chExt cx="1245900" cy="1245900"/>
          </a:xfrm>
        </p:grpSpPr>
        <p:sp>
          <p:nvSpPr>
            <p:cNvPr id="20" name="Google Shape;2315;p43">
              <a:extLst>
                <a:ext uri="{FF2B5EF4-FFF2-40B4-BE49-F238E27FC236}">
                  <a16:creationId xmlns:a16="http://schemas.microsoft.com/office/drawing/2014/main" id="{AD33D711-9690-40C3-B3ED-A9BA05A13EF4}"/>
                </a:ext>
              </a:extLst>
            </p:cNvPr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2316;p43">
              <a:extLst>
                <a:ext uri="{FF2B5EF4-FFF2-40B4-BE49-F238E27FC236}">
                  <a16:creationId xmlns:a16="http://schemas.microsoft.com/office/drawing/2014/main" id="{C5CFF4A5-7810-4B8C-B43E-3A8DE0E17E12}"/>
                </a:ext>
              </a:extLst>
            </p:cNvPr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111;p37">
            <a:extLst>
              <a:ext uri="{FF2B5EF4-FFF2-40B4-BE49-F238E27FC236}">
                <a16:creationId xmlns:a16="http://schemas.microsoft.com/office/drawing/2014/main" id="{7970E6A9-DBB5-4A1B-A1A5-CAD2FC270006}"/>
              </a:ext>
            </a:extLst>
          </p:cNvPr>
          <p:cNvSpPr/>
          <p:nvPr/>
        </p:nvSpPr>
        <p:spPr>
          <a:xfrm>
            <a:off x="3885584" y="4653304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23" name="Google Shape;2111;p37">
            <a:extLst>
              <a:ext uri="{FF2B5EF4-FFF2-40B4-BE49-F238E27FC236}">
                <a16:creationId xmlns:a16="http://schemas.microsoft.com/office/drawing/2014/main" id="{FE0AD4BC-EEF8-49FA-AD6B-F83DD7470EF2}"/>
              </a:ext>
            </a:extLst>
          </p:cNvPr>
          <p:cNvSpPr/>
          <p:nvPr/>
        </p:nvSpPr>
        <p:spPr>
          <a:xfrm>
            <a:off x="3969723" y="4652215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24" name="Google Shape;2111;p37">
            <a:extLst>
              <a:ext uri="{FF2B5EF4-FFF2-40B4-BE49-F238E27FC236}">
                <a16:creationId xmlns:a16="http://schemas.microsoft.com/office/drawing/2014/main" id="{DCCE4A3C-2FDA-4DDB-8561-D5D093938804}"/>
              </a:ext>
            </a:extLst>
          </p:cNvPr>
          <p:cNvSpPr/>
          <p:nvPr/>
        </p:nvSpPr>
        <p:spPr>
          <a:xfrm>
            <a:off x="3801445" y="4653304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25" name="Google Shape;2314;p43">
            <a:extLst>
              <a:ext uri="{FF2B5EF4-FFF2-40B4-BE49-F238E27FC236}">
                <a16:creationId xmlns:a16="http://schemas.microsoft.com/office/drawing/2014/main" id="{75BB7E25-A758-4054-8A37-3E3EDE8ED67F}"/>
              </a:ext>
            </a:extLst>
          </p:cNvPr>
          <p:cNvGrpSpPr/>
          <p:nvPr/>
        </p:nvGrpSpPr>
        <p:grpSpPr>
          <a:xfrm>
            <a:off x="4739508" y="1129978"/>
            <a:ext cx="886061" cy="881044"/>
            <a:chOff x="6293934" y="1010648"/>
            <a:chExt cx="1245900" cy="1245900"/>
          </a:xfrm>
        </p:grpSpPr>
        <p:sp>
          <p:nvSpPr>
            <p:cNvPr id="26" name="Google Shape;2315;p43">
              <a:extLst>
                <a:ext uri="{FF2B5EF4-FFF2-40B4-BE49-F238E27FC236}">
                  <a16:creationId xmlns:a16="http://schemas.microsoft.com/office/drawing/2014/main" id="{2DAA453D-6AB1-4422-B34D-3EA8098A279E}"/>
                </a:ext>
              </a:extLst>
            </p:cNvPr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316;p43">
              <a:extLst>
                <a:ext uri="{FF2B5EF4-FFF2-40B4-BE49-F238E27FC236}">
                  <a16:creationId xmlns:a16="http://schemas.microsoft.com/office/drawing/2014/main" id="{5837153F-58BD-4884-8850-9F7637D5A4D5}"/>
                </a:ext>
              </a:extLst>
            </p:cNvPr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317;p43">
            <a:extLst>
              <a:ext uri="{FF2B5EF4-FFF2-40B4-BE49-F238E27FC236}">
                <a16:creationId xmlns:a16="http://schemas.microsoft.com/office/drawing/2014/main" id="{BB135088-CC31-4FB8-9463-FA4A8A43DE79}"/>
              </a:ext>
            </a:extLst>
          </p:cNvPr>
          <p:cNvSpPr txBox="1"/>
          <p:nvPr/>
        </p:nvSpPr>
        <p:spPr>
          <a:xfrm>
            <a:off x="4718291" y="1280880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£ </a:t>
            </a:r>
            <a:r>
              <a:rPr lang="en" sz="32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20</a:t>
            </a:r>
            <a:r>
              <a:rPr lang="en-GB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</a:t>
            </a:r>
          </a:p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000</a:t>
            </a:r>
            <a:endParaRPr lang="en-GB" sz="2400" dirty="0">
              <a:solidFill>
                <a:srgbClr val="FFFFFF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9" name="Google Shape;2111;p37">
            <a:extLst>
              <a:ext uri="{FF2B5EF4-FFF2-40B4-BE49-F238E27FC236}">
                <a16:creationId xmlns:a16="http://schemas.microsoft.com/office/drawing/2014/main" id="{992C8749-ECD6-489B-8B08-25F6A0FBC6DF}"/>
              </a:ext>
            </a:extLst>
          </p:cNvPr>
          <p:cNvSpPr/>
          <p:nvPr/>
        </p:nvSpPr>
        <p:spPr>
          <a:xfrm>
            <a:off x="5134673" y="2126972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30" name="Google Shape;2111;p37">
            <a:extLst>
              <a:ext uri="{FF2B5EF4-FFF2-40B4-BE49-F238E27FC236}">
                <a16:creationId xmlns:a16="http://schemas.microsoft.com/office/drawing/2014/main" id="{C02E331D-ABEF-4B70-B6AD-0DFC20BF9F3E}"/>
              </a:ext>
            </a:extLst>
          </p:cNvPr>
          <p:cNvSpPr/>
          <p:nvPr/>
        </p:nvSpPr>
        <p:spPr>
          <a:xfrm>
            <a:off x="5218812" y="2125883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31" name="Google Shape;2111;p37">
            <a:extLst>
              <a:ext uri="{FF2B5EF4-FFF2-40B4-BE49-F238E27FC236}">
                <a16:creationId xmlns:a16="http://schemas.microsoft.com/office/drawing/2014/main" id="{AB6FB543-BFBD-4E2C-B21D-DE4DC9FC7B2A}"/>
              </a:ext>
            </a:extLst>
          </p:cNvPr>
          <p:cNvSpPr/>
          <p:nvPr/>
        </p:nvSpPr>
        <p:spPr>
          <a:xfrm>
            <a:off x="5050534" y="2126972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32" name="Google Shape;2314;p43">
            <a:extLst>
              <a:ext uri="{FF2B5EF4-FFF2-40B4-BE49-F238E27FC236}">
                <a16:creationId xmlns:a16="http://schemas.microsoft.com/office/drawing/2014/main" id="{A2780731-B1B2-47DC-BBD2-F7C356574267}"/>
              </a:ext>
            </a:extLst>
          </p:cNvPr>
          <p:cNvGrpSpPr/>
          <p:nvPr/>
        </p:nvGrpSpPr>
        <p:grpSpPr>
          <a:xfrm>
            <a:off x="4718642" y="2388036"/>
            <a:ext cx="886061" cy="881044"/>
            <a:chOff x="6293934" y="1010648"/>
            <a:chExt cx="1245900" cy="1245900"/>
          </a:xfrm>
        </p:grpSpPr>
        <p:sp>
          <p:nvSpPr>
            <p:cNvPr id="33" name="Google Shape;2315;p43">
              <a:extLst>
                <a:ext uri="{FF2B5EF4-FFF2-40B4-BE49-F238E27FC236}">
                  <a16:creationId xmlns:a16="http://schemas.microsoft.com/office/drawing/2014/main" id="{07B0CE28-43CD-4C27-9D91-79E76D5936C9}"/>
                </a:ext>
              </a:extLst>
            </p:cNvPr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2316;p43">
              <a:extLst>
                <a:ext uri="{FF2B5EF4-FFF2-40B4-BE49-F238E27FC236}">
                  <a16:creationId xmlns:a16="http://schemas.microsoft.com/office/drawing/2014/main" id="{EC9D59DD-7BDC-43D9-8E40-076DAB3BA1D6}"/>
                </a:ext>
              </a:extLst>
            </p:cNvPr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2111;p37">
            <a:extLst>
              <a:ext uri="{FF2B5EF4-FFF2-40B4-BE49-F238E27FC236}">
                <a16:creationId xmlns:a16="http://schemas.microsoft.com/office/drawing/2014/main" id="{62B01EBF-377D-4930-A5C0-0CC70E6F270A}"/>
              </a:ext>
            </a:extLst>
          </p:cNvPr>
          <p:cNvSpPr/>
          <p:nvPr/>
        </p:nvSpPr>
        <p:spPr>
          <a:xfrm>
            <a:off x="5135024" y="3385030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36" name="Google Shape;2111;p37">
            <a:extLst>
              <a:ext uri="{FF2B5EF4-FFF2-40B4-BE49-F238E27FC236}">
                <a16:creationId xmlns:a16="http://schemas.microsoft.com/office/drawing/2014/main" id="{AC641725-6F4A-4C39-A34A-B81E45AF00D3}"/>
              </a:ext>
            </a:extLst>
          </p:cNvPr>
          <p:cNvSpPr/>
          <p:nvPr/>
        </p:nvSpPr>
        <p:spPr>
          <a:xfrm>
            <a:off x="5219163" y="3383941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37" name="Google Shape;2111;p37">
            <a:extLst>
              <a:ext uri="{FF2B5EF4-FFF2-40B4-BE49-F238E27FC236}">
                <a16:creationId xmlns:a16="http://schemas.microsoft.com/office/drawing/2014/main" id="{FF2BB6CE-F6EE-4A3A-93B3-DBA90170C565}"/>
              </a:ext>
            </a:extLst>
          </p:cNvPr>
          <p:cNvSpPr/>
          <p:nvPr/>
        </p:nvSpPr>
        <p:spPr>
          <a:xfrm>
            <a:off x="5050885" y="3385030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grpSp>
        <p:nvGrpSpPr>
          <p:cNvPr id="38" name="Google Shape;2314;p43">
            <a:extLst>
              <a:ext uri="{FF2B5EF4-FFF2-40B4-BE49-F238E27FC236}">
                <a16:creationId xmlns:a16="http://schemas.microsoft.com/office/drawing/2014/main" id="{5B569A93-F88D-4D54-B7E3-CC5EAEB2E87B}"/>
              </a:ext>
            </a:extLst>
          </p:cNvPr>
          <p:cNvGrpSpPr/>
          <p:nvPr/>
        </p:nvGrpSpPr>
        <p:grpSpPr>
          <a:xfrm>
            <a:off x="4718291" y="3648272"/>
            <a:ext cx="886061" cy="881044"/>
            <a:chOff x="6293934" y="1010648"/>
            <a:chExt cx="1245900" cy="1245900"/>
          </a:xfrm>
        </p:grpSpPr>
        <p:sp>
          <p:nvSpPr>
            <p:cNvPr id="39" name="Google Shape;2315;p43">
              <a:extLst>
                <a:ext uri="{FF2B5EF4-FFF2-40B4-BE49-F238E27FC236}">
                  <a16:creationId xmlns:a16="http://schemas.microsoft.com/office/drawing/2014/main" id="{040E78E8-3033-4227-9CA9-CDF2070DB453}"/>
                </a:ext>
              </a:extLst>
            </p:cNvPr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2316;p43">
              <a:extLst>
                <a:ext uri="{FF2B5EF4-FFF2-40B4-BE49-F238E27FC236}">
                  <a16:creationId xmlns:a16="http://schemas.microsoft.com/office/drawing/2014/main" id="{5D0F55DC-20EA-4A1C-907E-F42D4D8E8DB1}"/>
                </a:ext>
              </a:extLst>
            </p:cNvPr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2111;p37">
            <a:extLst>
              <a:ext uri="{FF2B5EF4-FFF2-40B4-BE49-F238E27FC236}">
                <a16:creationId xmlns:a16="http://schemas.microsoft.com/office/drawing/2014/main" id="{AE625E84-DEAC-4288-895F-6931FC6BBC1B}"/>
              </a:ext>
            </a:extLst>
          </p:cNvPr>
          <p:cNvSpPr/>
          <p:nvPr/>
        </p:nvSpPr>
        <p:spPr>
          <a:xfrm>
            <a:off x="5134673" y="4645266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42" name="Google Shape;2111;p37">
            <a:extLst>
              <a:ext uri="{FF2B5EF4-FFF2-40B4-BE49-F238E27FC236}">
                <a16:creationId xmlns:a16="http://schemas.microsoft.com/office/drawing/2014/main" id="{B9207D30-6300-49D1-9F7C-6EA11FACA00F}"/>
              </a:ext>
            </a:extLst>
          </p:cNvPr>
          <p:cNvSpPr/>
          <p:nvPr/>
        </p:nvSpPr>
        <p:spPr>
          <a:xfrm>
            <a:off x="5218812" y="4644177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43" name="Google Shape;2111;p37">
            <a:extLst>
              <a:ext uri="{FF2B5EF4-FFF2-40B4-BE49-F238E27FC236}">
                <a16:creationId xmlns:a16="http://schemas.microsoft.com/office/drawing/2014/main" id="{CB87CA9F-4035-468F-A1C1-3684E43CC97E}"/>
              </a:ext>
            </a:extLst>
          </p:cNvPr>
          <p:cNvSpPr/>
          <p:nvPr/>
        </p:nvSpPr>
        <p:spPr>
          <a:xfrm>
            <a:off x="5050534" y="4645266"/>
            <a:ext cx="27000" cy="27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  <p:sp>
        <p:nvSpPr>
          <p:cNvPr id="44" name="Google Shape;2320;p43">
            <a:extLst>
              <a:ext uri="{FF2B5EF4-FFF2-40B4-BE49-F238E27FC236}">
                <a16:creationId xmlns:a16="http://schemas.microsoft.com/office/drawing/2014/main" id="{7E009CC8-3575-4916-A415-985B4586B449}"/>
              </a:ext>
            </a:extLst>
          </p:cNvPr>
          <p:cNvSpPr txBox="1"/>
          <p:nvPr/>
        </p:nvSpPr>
        <p:spPr>
          <a:xfrm>
            <a:off x="1147927" y="2577812"/>
            <a:ext cx="2327368" cy="45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Lot Size</a:t>
            </a:r>
          </a:p>
        </p:txBody>
      </p:sp>
      <p:sp>
        <p:nvSpPr>
          <p:cNvPr id="45" name="Google Shape;2320;p43">
            <a:extLst>
              <a:ext uri="{FF2B5EF4-FFF2-40B4-BE49-F238E27FC236}">
                <a16:creationId xmlns:a16="http://schemas.microsoft.com/office/drawing/2014/main" id="{AAA042E5-AE91-46FE-8B79-74B7E0E37175}"/>
              </a:ext>
            </a:extLst>
          </p:cNvPr>
          <p:cNvSpPr txBox="1"/>
          <p:nvPr/>
        </p:nvSpPr>
        <p:spPr>
          <a:xfrm>
            <a:off x="1149171" y="3831499"/>
            <a:ext cx="2327368" cy="45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Bathroom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46" name="Google Shape;2320;p43">
            <a:extLst>
              <a:ext uri="{FF2B5EF4-FFF2-40B4-BE49-F238E27FC236}">
                <a16:creationId xmlns:a16="http://schemas.microsoft.com/office/drawing/2014/main" id="{2B91E8D6-521A-4109-9EFE-3F891A85DE89}"/>
              </a:ext>
            </a:extLst>
          </p:cNvPr>
          <p:cNvSpPr txBox="1"/>
          <p:nvPr/>
        </p:nvSpPr>
        <p:spPr>
          <a:xfrm>
            <a:off x="5672792" y="1317603"/>
            <a:ext cx="2327368" cy="45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Year Built </a:t>
            </a:r>
          </a:p>
        </p:txBody>
      </p:sp>
      <p:sp>
        <p:nvSpPr>
          <p:cNvPr id="47" name="Google Shape;2320;p43">
            <a:extLst>
              <a:ext uri="{FF2B5EF4-FFF2-40B4-BE49-F238E27FC236}">
                <a16:creationId xmlns:a16="http://schemas.microsoft.com/office/drawing/2014/main" id="{0E92E35D-32CE-4B01-8A65-838397387F97}"/>
              </a:ext>
            </a:extLst>
          </p:cNvPr>
          <p:cNvSpPr txBox="1"/>
          <p:nvPr/>
        </p:nvSpPr>
        <p:spPr>
          <a:xfrm>
            <a:off x="5672792" y="2571750"/>
            <a:ext cx="2327368" cy="45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Bedroom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48" name="Google Shape;2320;p43">
            <a:extLst>
              <a:ext uri="{FF2B5EF4-FFF2-40B4-BE49-F238E27FC236}">
                <a16:creationId xmlns:a16="http://schemas.microsoft.com/office/drawing/2014/main" id="{6E7685CE-9524-4D3A-B809-AD6CC5C4C4FA}"/>
              </a:ext>
            </a:extLst>
          </p:cNvPr>
          <p:cNvSpPr txBox="1"/>
          <p:nvPr/>
        </p:nvSpPr>
        <p:spPr>
          <a:xfrm>
            <a:off x="5667851" y="3861529"/>
            <a:ext cx="2327368" cy="45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Garage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49" name="Google Shape;2317;p43">
            <a:extLst>
              <a:ext uri="{FF2B5EF4-FFF2-40B4-BE49-F238E27FC236}">
                <a16:creationId xmlns:a16="http://schemas.microsoft.com/office/drawing/2014/main" id="{94514CDE-7972-47E6-A0C1-2720546A2635}"/>
              </a:ext>
            </a:extLst>
          </p:cNvPr>
          <p:cNvSpPr txBox="1"/>
          <p:nvPr/>
        </p:nvSpPr>
        <p:spPr>
          <a:xfrm>
            <a:off x="3493305" y="2571750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£</a:t>
            </a:r>
            <a:r>
              <a:rPr lang="en" sz="32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19</a:t>
            </a:r>
            <a:r>
              <a:rPr lang="en-GB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</a:t>
            </a:r>
          </a:p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000</a:t>
            </a:r>
            <a:endParaRPr lang="en-GB" sz="2400" dirty="0">
              <a:solidFill>
                <a:srgbClr val="FFFFFF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50" name="Google Shape;2317;p43">
            <a:extLst>
              <a:ext uri="{FF2B5EF4-FFF2-40B4-BE49-F238E27FC236}">
                <a16:creationId xmlns:a16="http://schemas.microsoft.com/office/drawing/2014/main" id="{CEE3FFEE-0A13-494C-A214-0240086B877A}"/>
              </a:ext>
            </a:extLst>
          </p:cNvPr>
          <p:cNvSpPr txBox="1"/>
          <p:nvPr/>
        </p:nvSpPr>
        <p:spPr>
          <a:xfrm>
            <a:off x="4718291" y="2571750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£ </a:t>
            </a:r>
            <a:r>
              <a:rPr lang="en" sz="32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14</a:t>
            </a:r>
            <a:r>
              <a:rPr lang="en-GB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</a:t>
            </a:r>
          </a:p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000</a:t>
            </a:r>
            <a:endParaRPr lang="en-GB" sz="2400" dirty="0">
              <a:solidFill>
                <a:srgbClr val="FFFFFF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51" name="Google Shape;2317;p43">
            <a:extLst>
              <a:ext uri="{FF2B5EF4-FFF2-40B4-BE49-F238E27FC236}">
                <a16:creationId xmlns:a16="http://schemas.microsoft.com/office/drawing/2014/main" id="{B15E8FB2-D38E-4A7B-86F8-3A402C9EFAFF}"/>
              </a:ext>
            </a:extLst>
          </p:cNvPr>
          <p:cNvSpPr txBox="1"/>
          <p:nvPr/>
        </p:nvSpPr>
        <p:spPr>
          <a:xfrm>
            <a:off x="3470126" y="3799174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£ </a:t>
            </a:r>
            <a:r>
              <a:rPr lang="en" sz="32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6</a:t>
            </a:r>
            <a:r>
              <a:rPr lang="en-GB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</a:t>
            </a:r>
          </a:p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000</a:t>
            </a:r>
            <a:endParaRPr lang="en-GB" sz="2400" dirty="0">
              <a:solidFill>
                <a:srgbClr val="FFFFFF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52" name="Google Shape;2317;p43">
            <a:extLst>
              <a:ext uri="{FF2B5EF4-FFF2-40B4-BE49-F238E27FC236}">
                <a16:creationId xmlns:a16="http://schemas.microsoft.com/office/drawing/2014/main" id="{F3798CC9-1820-446C-898E-D4233C6FA326}"/>
              </a:ext>
            </a:extLst>
          </p:cNvPr>
          <p:cNvSpPr txBox="1"/>
          <p:nvPr/>
        </p:nvSpPr>
        <p:spPr>
          <a:xfrm>
            <a:off x="4731493" y="3809340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£ </a:t>
            </a:r>
            <a:r>
              <a:rPr lang="en" sz="32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</a:t>
            </a:r>
            <a:r>
              <a:rPr lang="en-GB" sz="16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,</a:t>
            </a:r>
          </a:p>
          <a:p>
            <a:pPr lvl="0" algn="ctr"/>
            <a:r>
              <a:rPr lang="en-GB" sz="1100" dirty="0">
                <a:solidFill>
                  <a:srgbClr val="FFFFFF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000</a:t>
            </a:r>
            <a:endParaRPr lang="en-GB" sz="2400" dirty="0">
              <a:solidFill>
                <a:srgbClr val="FFFFFF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26027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Google Shape;2694;p49"/>
          <p:cNvSpPr txBox="1">
            <a:spLocks noGrp="1"/>
          </p:cNvSpPr>
          <p:nvPr>
            <p:ph type="title"/>
          </p:nvPr>
        </p:nvSpPr>
        <p:spPr>
          <a:xfrm>
            <a:off x="723750" y="790946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b="1" dirty="0"/>
              <a:t>Mid-Market Strategy</a:t>
            </a:r>
            <a:endParaRPr sz="3200" b="1" dirty="0"/>
          </a:p>
        </p:txBody>
      </p:sp>
      <p:sp>
        <p:nvSpPr>
          <p:cNvPr id="2695" name="Google Shape;2695;p49"/>
          <p:cNvSpPr txBox="1"/>
          <p:nvPr/>
        </p:nvSpPr>
        <p:spPr>
          <a:xfrm>
            <a:off x="925835" y="1969299"/>
            <a:ext cx="2371329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5 bedrooms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1 bathroom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6" name="Google Shape;2696;p49"/>
          <p:cNvSpPr txBox="1"/>
          <p:nvPr/>
        </p:nvSpPr>
        <p:spPr>
          <a:xfrm>
            <a:off x="4280273" y="2148329"/>
            <a:ext cx="2219400" cy="41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Add 4 bathrooms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7" name="Google Shape;2697;p49"/>
          <p:cNvSpPr txBox="1"/>
          <p:nvPr/>
        </p:nvSpPr>
        <p:spPr>
          <a:xfrm>
            <a:off x="2496024" y="4101528"/>
            <a:ext cx="2507851" cy="4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£376,388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699" name="Google Shape;2699;p49"/>
          <p:cNvGrpSpPr/>
          <p:nvPr/>
        </p:nvGrpSpPr>
        <p:grpSpPr>
          <a:xfrm>
            <a:off x="1620199" y="2628648"/>
            <a:ext cx="5900365" cy="1517351"/>
            <a:chOff x="1621724" y="2106974"/>
            <a:chExt cx="5900365" cy="1517351"/>
          </a:xfrm>
        </p:grpSpPr>
        <p:grpSp>
          <p:nvGrpSpPr>
            <p:cNvPr id="2700" name="Google Shape;2700;p49"/>
            <p:cNvGrpSpPr/>
            <p:nvPr/>
          </p:nvGrpSpPr>
          <p:grpSpPr>
            <a:xfrm>
              <a:off x="2604811" y="2884996"/>
              <a:ext cx="4021725" cy="538"/>
              <a:chOff x="3762462" y="2553002"/>
              <a:chExt cx="1121570" cy="150"/>
            </a:xfrm>
          </p:grpSpPr>
          <p:cxnSp>
            <p:nvCxnSpPr>
              <p:cNvPr id="2701" name="Google Shape;2701;p49"/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2" name="Google Shape;2702;p49"/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3" name="Google Shape;2703;p49"/>
              <p:cNvCxnSpPr>
                <a:stCxn id="2704" idx="6"/>
                <a:endCxn id="2705" idx="2"/>
              </p:cNvCxnSpPr>
              <p:nvPr/>
            </p:nvCxnSpPr>
            <p:spPr>
              <a:xfrm>
                <a:off x="3762462" y="2553152"/>
                <a:ext cx="183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706" name="Google Shape;2706;p49"/>
            <p:cNvCxnSpPr/>
            <p:nvPr/>
          </p:nvCxnSpPr>
          <p:spPr>
            <a:xfrm>
              <a:off x="3752008" y="3186309"/>
              <a:ext cx="0" cy="35822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07" name="Google Shape;2707;p49"/>
            <p:cNvGrpSpPr/>
            <p:nvPr/>
          </p:nvGrpSpPr>
          <p:grpSpPr>
            <a:xfrm>
              <a:off x="3261117" y="2393765"/>
              <a:ext cx="983055" cy="983055"/>
              <a:chOff x="3347725" y="2480342"/>
              <a:chExt cx="810032" cy="810032"/>
            </a:xfrm>
          </p:grpSpPr>
          <p:sp>
            <p:nvSpPr>
              <p:cNvPr id="2705" name="Google Shape;2705;p49"/>
              <p:cNvSpPr/>
              <p:nvPr/>
            </p:nvSpPr>
            <p:spPr>
              <a:xfrm>
                <a:off x="3347725" y="2480342"/>
                <a:ext cx="810032" cy="8100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49"/>
              <p:cNvSpPr/>
              <p:nvPr/>
            </p:nvSpPr>
            <p:spPr>
              <a:xfrm>
                <a:off x="3451091" y="2583719"/>
                <a:ext cx="603490" cy="60349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09" name="Google Shape;2709;p49"/>
            <p:cNvCxnSpPr>
              <a:cxnSpLocks/>
              <a:stCxn id="2710" idx="0"/>
            </p:cNvCxnSpPr>
            <p:nvPr/>
          </p:nvCxnSpPr>
          <p:spPr>
            <a:xfrm rot="10800000">
              <a:off x="5391613" y="2122099"/>
              <a:ext cx="0" cy="396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1" name="Google Shape;2711;p49"/>
            <p:cNvGrpSpPr/>
            <p:nvPr/>
          </p:nvGrpSpPr>
          <p:grpSpPr>
            <a:xfrm>
              <a:off x="4899976" y="2393376"/>
              <a:ext cx="983044" cy="983044"/>
              <a:chOff x="4987056" y="2480342"/>
              <a:chExt cx="808956" cy="808956"/>
            </a:xfrm>
          </p:grpSpPr>
          <p:sp>
            <p:nvSpPr>
              <p:cNvPr id="2712" name="Google Shape;2712;p49"/>
              <p:cNvSpPr/>
              <p:nvPr/>
            </p:nvSpPr>
            <p:spPr>
              <a:xfrm>
                <a:off x="4987056" y="2480342"/>
                <a:ext cx="808956" cy="808956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49"/>
              <p:cNvSpPr/>
              <p:nvPr/>
            </p:nvSpPr>
            <p:spPr>
              <a:xfrm>
                <a:off x="5090423" y="2583719"/>
                <a:ext cx="602414" cy="60241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13" name="Google Shape;2713;p49"/>
            <p:cNvCxnSpPr/>
            <p:nvPr/>
          </p:nvCxnSpPr>
          <p:spPr>
            <a:xfrm>
              <a:off x="7031106" y="3186309"/>
              <a:ext cx="0" cy="35714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4" name="Google Shape;2714;p49"/>
            <p:cNvGrpSpPr/>
            <p:nvPr/>
          </p:nvGrpSpPr>
          <p:grpSpPr>
            <a:xfrm>
              <a:off x="6539045" y="2393178"/>
              <a:ext cx="983044" cy="983044"/>
              <a:chOff x="6626363" y="2480342"/>
              <a:chExt cx="808956" cy="808956"/>
            </a:xfrm>
          </p:grpSpPr>
          <p:sp>
            <p:nvSpPr>
              <p:cNvPr id="2715" name="Google Shape;2715;p49"/>
              <p:cNvSpPr/>
              <p:nvPr/>
            </p:nvSpPr>
            <p:spPr>
              <a:xfrm>
                <a:off x="6626363" y="2480342"/>
                <a:ext cx="808956" cy="80895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49"/>
              <p:cNvSpPr/>
              <p:nvPr/>
            </p:nvSpPr>
            <p:spPr>
              <a:xfrm>
                <a:off x="6729729" y="2583719"/>
                <a:ext cx="602414" cy="602414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17" name="Google Shape;2717;p49"/>
            <p:cNvCxnSpPr>
              <a:stCxn id="2718" idx="0"/>
            </p:cNvCxnSpPr>
            <p:nvPr/>
          </p:nvCxnSpPr>
          <p:spPr>
            <a:xfrm rot="10800000">
              <a:off x="2113432" y="2122227"/>
              <a:ext cx="0" cy="39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9" name="Google Shape;2719;p49"/>
            <p:cNvGrpSpPr/>
            <p:nvPr/>
          </p:nvGrpSpPr>
          <p:grpSpPr>
            <a:xfrm>
              <a:off x="1621724" y="2393805"/>
              <a:ext cx="983087" cy="983459"/>
              <a:chOff x="1708681" y="2480698"/>
              <a:chExt cx="809125" cy="809432"/>
            </a:xfrm>
          </p:grpSpPr>
          <p:sp>
            <p:nvSpPr>
              <p:cNvPr id="2704" name="Google Shape;2704;p49"/>
              <p:cNvSpPr/>
              <p:nvPr/>
            </p:nvSpPr>
            <p:spPr>
              <a:xfrm>
                <a:off x="1708681" y="2480698"/>
                <a:ext cx="809125" cy="809432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49"/>
              <p:cNvSpPr/>
              <p:nvPr/>
            </p:nvSpPr>
            <p:spPr>
              <a:xfrm>
                <a:off x="1812063" y="2584091"/>
                <a:ext cx="602631" cy="60263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20" name="Google Shape;2720;p49"/>
            <p:cNvSpPr/>
            <p:nvPr/>
          </p:nvSpPr>
          <p:spPr>
            <a:xfrm>
              <a:off x="2073125" y="2106975"/>
              <a:ext cx="79800" cy="79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49"/>
            <p:cNvSpPr/>
            <p:nvPr/>
          </p:nvSpPr>
          <p:spPr>
            <a:xfrm>
              <a:off x="5351645" y="2106974"/>
              <a:ext cx="79800" cy="79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49"/>
            <p:cNvSpPr/>
            <p:nvPr/>
          </p:nvSpPr>
          <p:spPr>
            <a:xfrm>
              <a:off x="3711575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49"/>
            <p:cNvSpPr/>
            <p:nvPr/>
          </p:nvSpPr>
          <p:spPr>
            <a:xfrm>
              <a:off x="6990966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4" name="Google Shape;2724;p49"/>
          <p:cNvSpPr txBox="1"/>
          <p:nvPr/>
        </p:nvSpPr>
        <p:spPr>
          <a:xfrm>
            <a:off x="1718192" y="3220933"/>
            <a:ext cx="787635" cy="44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House </a:t>
            </a:r>
            <a:r>
              <a:rPr lang="en" sz="18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44</a:t>
            </a:r>
            <a:endParaRPr sz="18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5" name="Google Shape;2725;p49"/>
          <p:cNvSpPr txBox="1"/>
          <p:nvPr/>
        </p:nvSpPr>
        <p:spPr>
          <a:xfrm>
            <a:off x="3376779" y="3250331"/>
            <a:ext cx="754479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Cost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6" name="Google Shape;2726;p49"/>
          <p:cNvSpPr txBox="1"/>
          <p:nvPr/>
        </p:nvSpPr>
        <p:spPr>
          <a:xfrm>
            <a:off x="4984545" y="3252641"/>
            <a:ext cx="816642" cy="32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Refurb</a:t>
            </a:r>
            <a:endParaRPr sz="18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7" name="Google Shape;2727;p49"/>
          <p:cNvSpPr txBox="1"/>
          <p:nvPr/>
        </p:nvSpPr>
        <p:spPr>
          <a:xfrm>
            <a:off x="6606895" y="3244108"/>
            <a:ext cx="843909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New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Price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39" name="Google Shape;2697;p49">
            <a:extLst>
              <a:ext uri="{FF2B5EF4-FFF2-40B4-BE49-F238E27FC236}">
                <a16:creationId xmlns:a16="http://schemas.microsoft.com/office/drawing/2014/main" id="{E6F3E8B0-2C22-4851-AC78-899F3E6E0409}"/>
              </a:ext>
            </a:extLst>
          </p:cNvPr>
          <p:cNvSpPr txBox="1"/>
          <p:nvPr/>
        </p:nvSpPr>
        <p:spPr>
          <a:xfrm>
            <a:off x="5774923" y="4101528"/>
            <a:ext cx="2507851" cy="4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1800" b="1" dirty="0">
                <a:solidFill>
                  <a:srgbClr val="FF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£409,511</a:t>
            </a:r>
          </a:p>
          <a:p>
            <a:pPr lvl="0" algn="ctr"/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5" grpId="0"/>
      <p:bldP spid="2696" grpId="0"/>
      <p:bldP spid="2697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2703;p49">
            <a:extLst>
              <a:ext uri="{FF2B5EF4-FFF2-40B4-BE49-F238E27FC236}">
                <a16:creationId xmlns:a16="http://schemas.microsoft.com/office/drawing/2014/main" id="{61DDA5A0-F068-4DC3-9279-90B1ADDD94EE}"/>
              </a:ext>
            </a:extLst>
          </p:cNvPr>
          <p:cNvCxnSpPr>
            <a:cxnSpLocks/>
          </p:cNvCxnSpPr>
          <p:nvPr/>
        </p:nvCxnSpPr>
        <p:spPr>
          <a:xfrm>
            <a:off x="5019677" y="4158716"/>
            <a:ext cx="720339" cy="71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" name="Google Shape;2703;p49">
            <a:extLst>
              <a:ext uri="{FF2B5EF4-FFF2-40B4-BE49-F238E27FC236}">
                <a16:creationId xmlns:a16="http://schemas.microsoft.com/office/drawing/2014/main" id="{715A4DC9-6691-4A49-94DA-96D59DBC6DCA}"/>
              </a:ext>
            </a:extLst>
          </p:cNvPr>
          <p:cNvCxnSpPr>
            <a:cxnSpLocks/>
            <a:endCxn id="62" idx="6"/>
          </p:cNvCxnSpPr>
          <p:nvPr/>
        </p:nvCxnSpPr>
        <p:spPr>
          <a:xfrm>
            <a:off x="3085369" y="4158716"/>
            <a:ext cx="720339" cy="71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2717;p49">
            <a:extLst>
              <a:ext uri="{FF2B5EF4-FFF2-40B4-BE49-F238E27FC236}">
                <a16:creationId xmlns:a16="http://schemas.microsoft.com/office/drawing/2014/main" id="{452ADCB2-A4E5-4A5A-BB6D-727D2456332E}"/>
              </a:ext>
            </a:extLst>
          </p:cNvPr>
          <p:cNvCxnSpPr>
            <a:cxnSpLocks/>
          </p:cNvCxnSpPr>
          <p:nvPr/>
        </p:nvCxnSpPr>
        <p:spPr>
          <a:xfrm flipH="1">
            <a:off x="6572928" y="3169255"/>
            <a:ext cx="25275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2697;p49">
            <a:extLst>
              <a:ext uri="{FF2B5EF4-FFF2-40B4-BE49-F238E27FC236}">
                <a16:creationId xmlns:a16="http://schemas.microsoft.com/office/drawing/2014/main" id="{370724D5-5359-4459-B8B9-A5493816B49F}"/>
              </a:ext>
            </a:extLst>
          </p:cNvPr>
          <p:cNvSpPr txBox="1"/>
          <p:nvPr/>
        </p:nvSpPr>
        <p:spPr>
          <a:xfrm>
            <a:off x="1587878" y="3918394"/>
            <a:ext cx="1874762" cy="35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£686,741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50" name="Google Shape;2699;p49">
            <a:extLst>
              <a:ext uri="{FF2B5EF4-FFF2-40B4-BE49-F238E27FC236}">
                <a16:creationId xmlns:a16="http://schemas.microsoft.com/office/drawing/2014/main" id="{4E7B8D0C-CC9F-4246-838E-99CFFE3CAFA7}"/>
              </a:ext>
            </a:extLst>
          </p:cNvPr>
          <p:cNvGrpSpPr/>
          <p:nvPr/>
        </p:nvGrpSpPr>
        <p:grpSpPr>
          <a:xfrm>
            <a:off x="1872322" y="2801821"/>
            <a:ext cx="4721910" cy="1387440"/>
            <a:chOff x="1205636" y="2393178"/>
            <a:chExt cx="6316453" cy="1855967"/>
          </a:xfrm>
        </p:grpSpPr>
        <p:grpSp>
          <p:nvGrpSpPr>
            <p:cNvPr id="51" name="Google Shape;2700;p49">
              <a:extLst>
                <a:ext uri="{FF2B5EF4-FFF2-40B4-BE49-F238E27FC236}">
                  <a16:creationId xmlns:a16="http://schemas.microsoft.com/office/drawing/2014/main" id="{5F3602A7-2BC0-47EF-8CAE-9BB33668E0C0}"/>
                </a:ext>
              </a:extLst>
            </p:cNvPr>
            <p:cNvGrpSpPr/>
            <p:nvPr/>
          </p:nvGrpSpPr>
          <p:grpSpPr>
            <a:xfrm>
              <a:off x="2604811" y="2884996"/>
              <a:ext cx="4021725" cy="538"/>
              <a:chOff x="3762462" y="2553002"/>
              <a:chExt cx="1121570" cy="150"/>
            </a:xfrm>
          </p:grpSpPr>
          <p:cxnSp>
            <p:nvCxnSpPr>
              <p:cNvPr id="72" name="Google Shape;2701;p49">
                <a:extLst>
                  <a:ext uri="{FF2B5EF4-FFF2-40B4-BE49-F238E27FC236}">
                    <a16:creationId xmlns:a16="http://schemas.microsoft.com/office/drawing/2014/main" id="{FEBB7600-A4FF-48D1-BC11-353A635F4A4F}"/>
                  </a:ext>
                </a:extLst>
              </p:cNvPr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2702;p49">
                <a:extLst>
                  <a:ext uri="{FF2B5EF4-FFF2-40B4-BE49-F238E27FC236}">
                    <a16:creationId xmlns:a16="http://schemas.microsoft.com/office/drawing/2014/main" id="{3A719D4F-4F89-44A0-B332-7AAF9B5786D3}"/>
                  </a:ext>
                </a:extLst>
              </p:cNvPr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2703;p49">
                <a:extLst>
                  <a:ext uri="{FF2B5EF4-FFF2-40B4-BE49-F238E27FC236}">
                    <a16:creationId xmlns:a16="http://schemas.microsoft.com/office/drawing/2014/main" id="{783E73EE-CFA0-4A9A-BF0F-C23D7B776710}"/>
                  </a:ext>
                </a:extLst>
              </p:cNvPr>
              <p:cNvCxnSpPr>
                <a:stCxn id="64" idx="6"/>
                <a:endCxn id="70" idx="2"/>
              </p:cNvCxnSpPr>
              <p:nvPr/>
            </p:nvCxnSpPr>
            <p:spPr>
              <a:xfrm>
                <a:off x="3762462" y="2553152"/>
                <a:ext cx="183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52" name="Google Shape;2706;p49">
              <a:extLst>
                <a:ext uri="{FF2B5EF4-FFF2-40B4-BE49-F238E27FC236}">
                  <a16:creationId xmlns:a16="http://schemas.microsoft.com/office/drawing/2014/main" id="{4958810D-BE3F-49C5-8626-E63C0A2CA688}"/>
                </a:ext>
              </a:extLst>
            </p:cNvPr>
            <p:cNvCxnSpPr>
              <a:cxnSpLocks/>
              <a:endCxn id="62" idx="4"/>
            </p:cNvCxnSpPr>
            <p:nvPr/>
          </p:nvCxnSpPr>
          <p:spPr>
            <a:xfrm>
              <a:off x="3752008" y="3186309"/>
              <a:ext cx="0" cy="106283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3" name="Google Shape;2707;p49">
              <a:extLst>
                <a:ext uri="{FF2B5EF4-FFF2-40B4-BE49-F238E27FC236}">
                  <a16:creationId xmlns:a16="http://schemas.microsoft.com/office/drawing/2014/main" id="{BF138E7C-AAB3-438E-908A-437145BE4E85}"/>
                </a:ext>
              </a:extLst>
            </p:cNvPr>
            <p:cNvGrpSpPr/>
            <p:nvPr/>
          </p:nvGrpSpPr>
          <p:grpSpPr>
            <a:xfrm>
              <a:off x="3261117" y="2393765"/>
              <a:ext cx="983055" cy="983055"/>
              <a:chOff x="3347725" y="2480342"/>
              <a:chExt cx="810032" cy="810032"/>
            </a:xfrm>
          </p:grpSpPr>
          <p:sp>
            <p:nvSpPr>
              <p:cNvPr id="70" name="Google Shape;2705;p49">
                <a:extLst>
                  <a:ext uri="{FF2B5EF4-FFF2-40B4-BE49-F238E27FC236}">
                    <a16:creationId xmlns:a16="http://schemas.microsoft.com/office/drawing/2014/main" id="{142C990E-5FBF-4FBA-840F-04D134B2B86A}"/>
                  </a:ext>
                </a:extLst>
              </p:cNvPr>
              <p:cNvSpPr/>
              <p:nvPr/>
            </p:nvSpPr>
            <p:spPr>
              <a:xfrm>
                <a:off x="3347725" y="2480342"/>
                <a:ext cx="810032" cy="8100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2708;p49">
                <a:extLst>
                  <a:ext uri="{FF2B5EF4-FFF2-40B4-BE49-F238E27FC236}">
                    <a16:creationId xmlns:a16="http://schemas.microsoft.com/office/drawing/2014/main" id="{ECE125D3-6462-4747-A356-0AFAB7C5CD90}"/>
                  </a:ext>
                </a:extLst>
              </p:cNvPr>
              <p:cNvSpPr/>
              <p:nvPr/>
            </p:nvSpPr>
            <p:spPr>
              <a:xfrm>
                <a:off x="3451091" y="2583719"/>
                <a:ext cx="603490" cy="60349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cxnSp>
          <p:nvCxnSpPr>
            <p:cNvPr id="54" name="Google Shape;2709;p49">
              <a:extLst>
                <a:ext uri="{FF2B5EF4-FFF2-40B4-BE49-F238E27FC236}">
                  <a16:creationId xmlns:a16="http://schemas.microsoft.com/office/drawing/2014/main" id="{09A0E49A-551E-48E1-B2E4-881BA1CC57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39791" y="3178616"/>
              <a:ext cx="8839" cy="990729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5" name="Google Shape;2711;p49">
              <a:extLst>
                <a:ext uri="{FF2B5EF4-FFF2-40B4-BE49-F238E27FC236}">
                  <a16:creationId xmlns:a16="http://schemas.microsoft.com/office/drawing/2014/main" id="{0812FEBC-3572-492E-BEF5-E498923A44A4}"/>
                </a:ext>
              </a:extLst>
            </p:cNvPr>
            <p:cNvGrpSpPr/>
            <p:nvPr/>
          </p:nvGrpSpPr>
          <p:grpSpPr>
            <a:xfrm>
              <a:off x="4899976" y="2393376"/>
              <a:ext cx="983044" cy="983044"/>
              <a:chOff x="4987056" y="2480342"/>
              <a:chExt cx="808956" cy="808956"/>
            </a:xfrm>
          </p:grpSpPr>
          <p:sp>
            <p:nvSpPr>
              <p:cNvPr id="68" name="Google Shape;2712;p49">
                <a:extLst>
                  <a:ext uri="{FF2B5EF4-FFF2-40B4-BE49-F238E27FC236}">
                    <a16:creationId xmlns:a16="http://schemas.microsoft.com/office/drawing/2014/main" id="{3FE9A22F-FB07-4D50-9A3C-2A0B9F20F78D}"/>
                  </a:ext>
                </a:extLst>
              </p:cNvPr>
              <p:cNvSpPr/>
              <p:nvPr/>
            </p:nvSpPr>
            <p:spPr>
              <a:xfrm>
                <a:off x="4987056" y="2480342"/>
                <a:ext cx="808956" cy="808956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2710;p49">
                <a:extLst>
                  <a:ext uri="{FF2B5EF4-FFF2-40B4-BE49-F238E27FC236}">
                    <a16:creationId xmlns:a16="http://schemas.microsoft.com/office/drawing/2014/main" id="{37CE0335-F6C0-41E6-835D-943783DAE542}"/>
                  </a:ext>
                </a:extLst>
              </p:cNvPr>
              <p:cNvSpPr/>
              <p:nvPr/>
            </p:nvSpPr>
            <p:spPr>
              <a:xfrm>
                <a:off x="5090423" y="2583719"/>
                <a:ext cx="602414" cy="60241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7" name="Google Shape;2714;p49">
              <a:extLst>
                <a:ext uri="{FF2B5EF4-FFF2-40B4-BE49-F238E27FC236}">
                  <a16:creationId xmlns:a16="http://schemas.microsoft.com/office/drawing/2014/main" id="{0374C325-C271-4B7F-8C68-8E6A6C94BB95}"/>
                </a:ext>
              </a:extLst>
            </p:cNvPr>
            <p:cNvGrpSpPr/>
            <p:nvPr/>
          </p:nvGrpSpPr>
          <p:grpSpPr>
            <a:xfrm>
              <a:off x="6539045" y="2393178"/>
              <a:ext cx="983044" cy="983044"/>
              <a:chOff x="6626363" y="2480342"/>
              <a:chExt cx="808956" cy="808956"/>
            </a:xfrm>
          </p:grpSpPr>
          <p:sp>
            <p:nvSpPr>
              <p:cNvPr id="66" name="Google Shape;2715;p49">
                <a:extLst>
                  <a:ext uri="{FF2B5EF4-FFF2-40B4-BE49-F238E27FC236}">
                    <a16:creationId xmlns:a16="http://schemas.microsoft.com/office/drawing/2014/main" id="{6C0932E8-2497-4C77-AE16-458B762867EB}"/>
                  </a:ext>
                </a:extLst>
              </p:cNvPr>
              <p:cNvSpPr/>
              <p:nvPr/>
            </p:nvSpPr>
            <p:spPr>
              <a:xfrm>
                <a:off x="6626363" y="2480342"/>
                <a:ext cx="808956" cy="80895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2716;p49">
                <a:extLst>
                  <a:ext uri="{FF2B5EF4-FFF2-40B4-BE49-F238E27FC236}">
                    <a16:creationId xmlns:a16="http://schemas.microsoft.com/office/drawing/2014/main" id="{AEF3C892-7FE0-46D3-967A-49F8D5ED28EF}"/>
                  </a:ext>
                </a:extLst>
              </p:cNvPr>
              <p:cNvSpPr/>
              <p:nvPr/>
            </p:nvSpPr>
            <p:spPr>
              <a:xfrm>
                <a:off x="6729729" y="2583719"/>
                <a:ext cx="602414" cy="602414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2719;p49">
              <a:extLst>
                <a:ext uri="{FF2B5EF4-FFF2-40B4-BE49-F238E27FC236}">
                  <a16:creationId xmlns:a16="http://schemas.microsoft.com/office/drawing/2014/main" id="{FD016F0D-42B0-4908-9F37-9803B18CD8A5}"/>
                </a:ext>
              </a:extLst>
            </p:cNvPr>
            <p:cNvGrpSpPr/>
            <p:nvPr/>
          </p:nvGrpSpPr>
          <p:grpSpPr>
            <a:xfrm>
              <a:off x="1621724" y="2393805"/>
              <a:ext cx="983087" cy="983459"/>
              <a:chOff x="1708681" y="2480698"/>
              <a:chExt cx="809125" cy="809432"/>
            </a:xfrm>
          </p:grpSpPr>
          <p:sp>
            <p:nvSpPr>
              <p:cNvPr id="64" name="Google Shape;2704;p49">
                <a:extLst>
                  <a:ext uri="{FF2B5EF4-FFF2-40B4-BE49-F238E27FC236}">
                    <a16:creationId xmlns:a16="http://schemas.microsoft.com/office/drawing/2014/main" id="{CB7F0411-0810-4932-B537-812D04440D0E}"/>
                  </a:ext>
                </a:extLst>
              </p:cNvPr>
              <p:cNvSpPr/>
              <p:nvPr/>
            </p:nvSpPr>
            <p:spPr>
              <a:xfrm>
                <a:off x="1708681" y="2480698"/>
                <a:ext cx="809125" cy="809432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2718;p49">
                <a:extLst>
                  <a:ext uri="{FF2B5EF4-FFF2-40B4-BE49-F238E27FC236}">
                    <a16:creationId xmlns:a16="http://schemas.microsoft.com/office/drawing/2014/main" id="{F56CD75C-4EA0-47AD-8526-CFD207B43B99}"/>
                  </a:ext>
                </a:extLst>
              </p:cNvPr>
              <p:cNvSpPr/>
              <p:nvPr/>
            </p:nvSpPr>
            <p:spPr>
              <a:xfrm>
                <a:off x="1812063" y="2584091"/>
                <a:ext cx="602631" cy="60263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" name="Google Shape;2720;p49">
              <a:extLst>
                <a:ext uri="{FF2B5EF4-FFF2-40B4-BE49-F238E27FC236}">
                  <a16:creationId xmlns:a16="http://schemas.microsoft.com/office/drawing/2014/main" id="{5034B008-C64B-4B13-B061-94816D6BFFE9}"/>
                </a:ext>
              </a:extLst>
            </p:cNvPr>
            <p:cNvSpPr/>
            <p:nvPr/>
          </p:nvSpPr>
          <p:spPr>
            <a:xfrm>
              <a:off x="1205636" y="2845531"/>
              <a:ext cx="79800" cy="79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2722;p49">
              <a:extLst>
                <a:ext uri="{FF2B5EF4-FFF2-40B4-BE49-F238E27FC236}">
                  <a16:creationId xmlns:a16="http://schemas.microsoft.com/office/drawing/2014/main" id="{992F072E-21E8-4E44-A04B-0C48E1E978A5}"/>
                </a:ext>
              </a:extLst>
            </p:cNvPr>
            <p:cNvSpPr/>
            <p:nvPr/>
          </p:nvSpPr>
          <p:spPr>
            <a:xfrm>
              <a:off x="3712108" y="4169345"/>
              <a:ext cx="79800" cy="798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58" name="Google Shape;2717;p49">
              <a:extLst>
                <a:ext uri="{FF2B5EF4-FFF2-40B4-BE49-F238E27FC236}">
                  <a16:creationId xmlns:a16="http://schemas.microsoft.com/office/drawing/2014/main" id="{A16266DD-B116-4B49-8F2D-A72816EA4D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3623" y="2884700"/>
              <a:ext cx="338101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5" name="Google Shape;2724;p49">
            <a:extLst>
              <a:ext uri="{FF2B5EF4-FFF2-40B4-BE49-F238E27FC236}">
                <a16:creationId xmlns:a16="http://schemas.microsoft.com/office/drawing/2014/main" id="{7531FD8F-56B2-4790-B411-0F1A172BB166}"/>
              </a:ext>
            </a:extLst>
          </p:cNvPr>
          <p:cNvSpPr txBox="1"/>
          <p:nvPr/>
        </p:nvSpPr>
        <p:spPr>
          <a:xfrm>
            <a:off x="2267685" y="3002973"/>
            <a:ext cx="588802" cy="3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996</a:t>
            </a:r>
            <a:endParaRPr sz="18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76" name="Google Shape;2725;p49">
            <a:extLst>
              <a:ext uri="{FF2B5EF4-FFF2-40B4-BE49-F238E27FC236}">
                <a16:creationId xmlns:a16="http://schemas.microsoft.com/office/drawing/2014/main" id="{9CF9A2DB-C3BA-4A7E-A3E0-31172CE89D02}"/>
              </a:ext>
            </a:extLst>
          </p:cNvPr>
          <p:cNvSpPr txBox="1"/>
          <p:nvPr/>
        </p:nvSpPr>
        <p:spPr>
          <a:xfrm>
            <a:off x="3494162" y="3062243"/>
            <a:ext cx="564016" cy="21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997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82" name="Google Shape;2720;p49">
            <a:extLst>
              <a:ext uri="{FF2B5EF4-FFF2-40B4-BE49-F238E27FC236}">
                <a16:creationId xmlns:a16="http://schemas.microsoft.com/office/drawing/2014/main" id="{EE707C8D-FB61-46B3-AD89-470D9B48FB94}"/>
              </a:ext>
            </a:extLst>
          </p:cNvPr>
          <p:cNvSpPr/>
          <p:nvPr/>
        </p:nvSpPr>
        <p:spPr>
          <a:xfrm>
            <a:off x="6819423" y="1387362"/>
            <a:ext cx="59655" cy="5965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83" name="Google Shape;2703;p49">
            <a:extLst>
              <a:ext uri="{FF2B5EF4-FFF2-40B4-BE49-F238E27FC236}">
                <a16:creationId xmlns:a16="http://schemas.microsoft.com/office/drawing/2014/main" id="{DE8E39F9-CA1F-43C6-B038-6B81EBB76FCB}"/>
              </a:ext>
            </a:extLst>
          </p:cNvPr>
          <p:cNvCxnSpPr>
            <a:cxnSpLocks/>
            <a:stCxn id="86" idx="4"/>
          </p:cNvCxnSpPr>
          <p:nvPr/>
        </p:nvCxnSpPr>
        <p:spPr>
          <a:xfrm>
            <a:off x="2525259" y="1788713"/>
            <a:ext cx="0" cy="101311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2703;p49">
            <a:extLst>
              <a:ext uri="{FF2B5EF4-FFF2-40B4-BE49-F238E27FC236}">
                <a16:creationId xmlns:a16="http://schemas.microsoft.com/office/drawing/2014/main" id="{8A030D12-5B7A-48B8-AB53-0B82EB33FC94}"/>
              </a:ext>
            </a:extLst>
          </p:cNvPr>
          <p:cNvCxnSpPr>
            <a:cxnSpLocks/>
            <a:stCxn id="88" idx="4"/>
          </p:cNvCxnSpPr>
          <p:nvPr/>
        </p:nvCxnSpPr>
        <p:spPr>
          <a:xfrm>
            <a:off x="6197187" y="1789015"/>
            <a:ext cx="10655" cy="1012808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2705;p49">
            <a:extLst>
              <a:ext uri="{FF2B5EF4-FFF2-40B4-BE49-F238E27FC236}">
                <a16:creationId xmlns:a16="http://schemas.microsoft.com/office/drawing/2014/main" id="{6BDBA5A4-183C-44CE-A148-5D7CEDDAEDC8}"/>
              </a:ext>
            </a:extLst>
          </p:cNvPr>
          <p:cNvSpPr/>
          <p:nvPr/>
        </p:nvSpPr>
        <p:spPr>
          <a:xfrm>
            <a:off x="2157814" y="1053823"/>
            <a:ext cx="734890" cy="73489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2708;p49">
            <a:extLst>
              <a:ext uri="{FF2B5EF4-FFF2-40B4-BE49-F238E27FC236}">
                <a16:creationId xmlns:a16="http://schemas.microsoft.com/office/drawing/2014/main" id="{FD795A54-6880-4507-98FE-D74FBBB66513}"/>
              </a:ext>
            </a:extLst>
          </p:cNvPr>
          <p:cNvSpPr/>
          <p:nvPr/>
        </p:nvSpPr>
        <p:spPr>
          <a:xfrm>
            <a:off x="2251505" y="1149324"/>
            <a:ext cx="547508" cy="547508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2704;p49">
            <a:extLst>
              <a:ext uri="{FF2B5EF4-FFF2-40B4-BE49-F238E27FC236}">
                <a16:creationId xmlns:a16="http://schemas.microsoft.com/office/drawing/2014/main" id="{5A3697EB-B2A0-4D24-AF0E-E76416B3DB7E}"/>
              </a:ext>
            </a:extLst>
          </p:cNvPr>
          <p:cNvSpPr/>
          <p:nvPr/>
        </p:nvSpPr>
        <p:spPr>
          <a:xfrm>
            <a:off x="5829730" y="1053823"/>
            <a:ext cx="734914" cy="735192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2710;p49">
            <a:extLst>
              <a:ext uri="{FF2B5EF4-FFF2-40B4-BE49-F238E27FC236}">
                <a16:creationId xmlns:a16="http://schemas.microsoft.com/office/drawing/2014/main" id="{DDABFAC6-5C2D-4C57-AFF0-7558E3F64EBF}"/>
              </a:ext>
            </a:extLst>
          </p:cNvPr>
          <p:cNvSpPr/>
          <p:nvPr/>
        </p:nvSpPr>
        <p:spPr>
          <a:xfrm>
            <a:off x="5925560" y="1147641"/>
            <a:ext cx="547253" cy="54725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90" name="Google Shape;2717;p49">
            <a:extLst>
              <a:ext uri="{FF2B5EF4-FFF2-40B4-BE49-F238E27FC236}">
                <a16:creationId xmlns:a16="http://schemas.microsoft.com/office/drawing/2014/main" id="{96387819-0795-4D35-86CF-FF94D8575403}"/>
              </a:ext>
            </a:extLst>
          </p:cNvPr>
          <p:cNvCxnSpPr>
            <a:cxnSpLocks/>
          </p:cNvCxnSpPr>
          <p:nvPr/>
        </p:nvCxnSpPr>
        <p:spPr>
          <a:xfrm flipH="1">
            <a:off x="6566673" y="1421267"/>
            <a:ext cx="25275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2717;p49">
            <a:extLst>
              <a:ext uri="{FF2B5EF4-FFF2-40B4-BE49-F238E27FC236}">
                <a16:creationId xmlns:a16="http://schemas.microsoft.com/office/drawing/2014/main" id="{233A4389-018C-41F6-B88D-A8496D99EF09}"/>
              </a:ext>
            </a:extLst>
          </p:cNvPr>
          <p:cNvCxnSpPr>
            <a:cxnSpLocks/>
          </p:cNvCxnSpPr>
          <p:nvPr/>
        </p:nvCxnSpPr>
        <p:spPr>
          <a:xfrm flipH="1">
            <a:off x="1902149" y="1417189"/>
            <a:ext cx="25275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2722;p49">
            <a:extLst>
              <a:ext uri="{FF2B5EF4-FFF2-40B4-BE49-F238E27FC236}">
                <a16:creationId xmlns:a16="http://schemas.microsoft.com/office/drawing/2014/main" id="{68239F47-0188-4712-93B2-2B4F1AE284F1}"/>
              </a:ext>
            </a:extLst>
          </p:cNvPr>
          <p:cNvSpPr/>
          <p:nvPr/>
        </p:nvSpPr>
        <p:spPr>
          <a:xfrm>
            <a:off x="1842494" y="1387362"/>
            <a:ext cx="59655" cy="5965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2722;p49">
            <a:extLst>
              <a:ext uri="{FF2B5EF4-FFF2-40B4-BE49-F238E27FC236}">
                <a16:creationId xmlns:a16="http://schemas.microsoft.com/office/drawing/2014/main" id="{85454154-D6A2-47BB-8817-4C5FB9043A72}"/>
              </a:ext>
            </a:extLst>
          </p:cNvPr>
          <p:cNvSpPr/>
          <p:nvPr/>
        </p:nvSpPr>
        <p:spPr>
          <a:xfrm>
            <a:off x="6819423" y="3138382"/>
            <a:ext cx="59655" cy="5965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2725;p49">
            <a:extLst>
              <a:ext uri="{FF2B5EF4-FFF2-40B4-BE49-F238E27FC236}">
                <a16:creationId xmlns:a16="http://schemas.microsoft.com/office/drawing/2014/main" id="{64F51C86-12C0-41A4-93F5-C1F6349D3BDD}"/>
              </a:ext>
            </a:extLst>
          </p:cNvPr>
          <p:cNvSpPr txBox="1"/>
          <p:nvPr/>
        </p:nvSpPr>
        <p:spPr>
          <a:xfrm>
            <a:off x="5955512" y="3060362"/>
            <a:ext cx="564016" cy="21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999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96" name="Google Shape;2725;p49">
            <a:extLst>
              <a:ext uri="{FF2B5EF4-FFF2-40B4-BE49-F238E27FC236}">
                <a16:creationId xmlns:a16="http://schemas.microsoft.com/office/drawing/2014/main" id="{7638B462-773C-4C94-B1E2-AD6AF1D44BC2}"/>
              </a:ext>
            </a:extLst>
          </p:cNvPr>
          <p:cNvSpPr txBox="1"/>
          <p:nvPr/>
        </p:nvSpPr>
        <p:spPr>
          <a:xfrm>
            <a:off x="2234997" y="1311223"/>
            <a:ext cx="564016" cy="21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995</a:t>
            </a:r>
            <a:endParaRPr sz="1800" dirty="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97" name="Google Shape;2724;p49">
            <a:extLst>
              <a:ext uri="{FF2B5EF4-FFF2-40B4-BE49-F238E27FC236}">
                <a16:creationId xmlns:a16="http://schemas.microsoft.com/office/drawing/2014/main" id="{24C00D27-2407-4773-A4ED-05AC183B995A}"/>
              </a:ext>
            </a:extLst>
          </p:cNvPr>
          <p:cNvSpPr txBox="1"/>
          <p:nvPr/>
        </p:nvSpPr>
        <p:spPr>
          <a:xfrm>
            <a:off x="4719027" y="2999570"/>
            <a:ext cx="588802" cy="3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998</a:t>
            </a:r>
            <a:endParaRPr sz="18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98" name="Google Shape;2724;p49">
            <a:extLst>
              <a:ext uri="{FF2B5EF4-FFF2-40B4-BE49-F238E27FC236}">
                <a16:creationId xmlns:a16="http://schemas.microsoft.com/office/drawing/2014/main" id="{A659C765-8BF3-44C4-9BA5-D29C57B33D32}"/>
              </a:ext>
            </a:extLst>
          </p:cNvPr>
          <p:cNvSpPr txBox="1"/>
          <p:nvPr/>
        </p:nvSpPr>
        <p:spPr>
          <a:xfrm>
            <a:off x="5883762" y="1251953"/>
            <a:ext cx="616742" cy="3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1000</a:t>
            </a:r>
            <a:endParaRPr sz="1800" dirty="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101" name="Google Shape;2697;p49">
            <a:extLst>
              <a:ext uri="{FF2B5EF4-FFF2-40B4-BE49-F238E27FC236}">
                <a16:creationId xmlns:a16="http://schemas.microsoft.com/office/drawing/2014/main" id="{C957E778-2D22-4A8D-AFF7-1D26A4B348C8}"/>
              </a:ext>
            </a:extLst>
          </p:cNvPr>
          <p:cNvSpPr txBox="1"/>
          <p:nvPr/>
        </p:nvSpPr>
        <p:spPr>
          <a:xfrm>
            <a:off x="6909003" y="1168290"/>
            <a:ext cx="1874762" cy="35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£726,250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2" name="Google Shape;2697;p49">
            <a:extLst>
              <a:ext uri="{FF2B5EF4-FFF2-40B4-BE49-F238E27FC236}">
                <a16:creationId xmlns:a16="http://schemas.microsoft.com/office/drawing/2014/main" id="{30713B98-6CDF-415A-BC19-7C84C16EEECD}"/>
              </a:ext>
            </a:extLst>
          </p:cNvPr>
          <p:cNvSpPr txBox="1"/>
          <p:nvPr/>
        </p:nvSpPr>
        <p:spPr>
          <a:xfrm>
            <a:off x="-55542" y="1168290"/>
            <a:ext cx="1874762" cy="35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£423,771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3" name="Google Shape;2697;p49">
            <a:extLst>
              <a:ext uri="{FF2B5EF4-FFF2-40B4-BE49-F238E27FC236}">
                <a16:creationId xmlns:a16="http://schemas.microsoft.com/office/drawing/2014/main" id="{56D57FAA-F84C-4CFD-8593-BFCC1168374E}"/>
              </a:ext>
            </a:extLst>
          </p:cNvPr>
          <p:cNvSpPr txBox="1"/>
          <p:nvPr/>
        </p:nvSpPr>
        <p:spPr>
          <a:xfrm>
            <a:off x="-55023" y="2960949"/>
            <a:ext cx="1874762" cy="35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£697,582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4" name="Google Shape;2697;p49">
            <a:extLst>
              <a:ext uri="{FF2B5EF4-FFF2-40B4-BE49-F238E27FC236}">
                <a16:creationId xmlns:a16="http://schemas.microsoft.com/office/drawing/2014/main" id="{63917854-1C55-40D9-82ED-4467096CE1C0}"/>
              </a:ext>
            </a:extLst>
          </p:cNvPr>
          <p:cNvSpPr txBox="1"/>
          <p:nvPr/>
        </p:nvSpPr>
        <p:spPr>
          <a:xfrm>
            <a:off x="6909003" y="2917429"/>
            <a:ext cx="1874762" cy="35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£966,543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05" name="Google Shape;2697;p49">
            <a:extLst>
              <a:ext uri="{FF2B5EF4-FFF2-40B4-BE49-F238E27FC236}">
                <a16:creationId xmlns:a16="http://schemas.microsoft.com/office/drawing/2014/main" id="{08A756AB-EC9E-4882-9EB9-D6A5CF2DB47D}"/>
              </a:ext>
            </a:extLst>
          </p:cNvPr>
          <p:cNvSpPr txBox="1"/>
          <p:nvPr/>
        </p:nvSpPr>
        <p:spPr>
          <a:xfrm>
            <a:off x="5289410" y="3918394"/>
            <a:ext cx="1874762" cy="35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8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£577,093</a:t>
            </a:r>
            <a:endParaRPr sz="1800" dirty="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10" name="Google Shape;2722;p49">
            <a:extLst>
              <a:ext uri="{FF2B5EF4-FFF2-40B4-BE49-F238E27FC236}">
                <a16:creationId xmlns:a16="http://schemas.microsoft.com/office/drawing/2014/main" id="{6A66F43F-DCE3-4601-A6BF-7A3D8D784887}"/>
              </a:ext>
            </a:extLst>
          </p:cNvPr>
          <p:cNvSpPr/>
          <p:nvPr/>
        </p:nvSpPr>
        <p:spPr>
          <a:xfrm>
            <a:off x="5014375" y="4128889"/>
            <a:ext cx="59655" cy="5965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2722;p49">
            <a:extLst>
              <a:ext uri="{FF2B5EF4-FFF2-40B4-BE49-F238E27FC236}">
                <a16:creationId xmlns:a16="http://schemas.microsoft.com/office/drawing/2014/main" id="{900CC4EB-2455-412F-AD41-4EDA43948A47}"/>
              </a:ext>
            </a:extLst>
          </p:cNvPr>
          <p:cNvSpPr/>
          <p:nvPr/>
        </p:nvSpPr>
        <p:spPr>
          <a:xfrm>
            <a:off x="3025714" y="4128889"/>
            <a:ext cx="59655" cy="5965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2722;p49">
            <a:extLst>
              <a:ext uri="{FF2B5EF4-FFF2-40B4-BE49-F238E27FC236}">
                <a16:creationId xmlns:a16="http://schemas.microsoft.com/office/drawing/2014/main" id="{2407E1BB-7215-489E-87F3-2484D6935A5E}"/>
              </a:ext>
            </a:extLst>
          </p:cNvPr>
          <p:cNvSpPr/>
          <p:nvPr/>
        </p:nvSpPr>
        <p:spPr>
          <a:xfrm>
            <a:off x="5680361" y="4128889"/>
            <a:ext cx="59655" cy="5965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09" name="Title 2308">
            <a:extLst>
              <a:ext uri="{FF2B5EF4-FFF2-40B4-BE49-F238E27FC236}">
                <a16:creationId xmlns:a16="http://schemas.microsoft.com/office/drawing/2014/main" id="{73EA2477-81AD-429D-B9AC-0C9E55E5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887" y="1389322"/>
            <a:ext cx="2804016" cy="1229853"/>
          </a:xfrm>
        </p:spPr>
        <p:txBody>
          <a:bodyPr/>
          <a:lstStyle/>
          <a:p>
            <a:r>
              <a:rPr lang="en-GB" dirty="0"/>
              <a:t>House Price </a:t>
            </a:r>
            <a:br>
              <a:rPr lang="en-GB" dirty="0"/>
            </a:br>
            <a:r>
              <a:rPr lang="en-GB" dirty="0"/>
              <a:t>Predictions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2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2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2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2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75" grpId="0"/>
      <p:bldP spid="76" grpId="0"/>
      <p:bldP spid="82" grpId="0" animBg="1"/>
      <p:bldP spid="86" grpId="0" animBg="1"/>
      <p:bldP spid="87" grpId="0" animBg="1"/>
      <p:bldP spid="88" grpId="0" animBg="1"/>
      <p:bldP spid="89" grpId="0" animBg="1"/>
      <p:bldP spid="92" grpId="0" animBg="1"/>
      <p:bldP spid="93" grpId="0" animBg="1"/>
      <p:bldP spid="95" grpId="0"/>
      <p:bldP spid="96" grpId="0"/>
      <p:bldP spid="97" grpId="0"/>
      <p:bldP spid="98" grpId="0"/>
      <p:bldP spid="101" grpId="0"/>
      <p:bldP spid="102" grpId="0"/>
      <p:bldP spid="103" grpId="0"/>
      <p:bldP spid="104" grpId="0"/>
      <p:bldP spid="105" grpId="0"/>
      <p:bldP spid="110" grpId="0" animBg="1"/>
      <p:bldP spid="111" grpId="0" animBg="1"/>
      <p:bldP spid="1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 dirty="0"/>
              <a:t>Other Findings</a:t>
            </a:r>
            <a:endParaRPr sz="32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01" name="Google Shape;3501;p61"/>
          <p:cNvSpPr/>
          <p:nvPr/>
        </p:nvSpPr>
        <p:spPr>
          <a:xfrm>
            <a:off x="1011861" y="1338012"/>
            <a:ext cx="1856903" cy="25574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2" name="Google Shape;3502;p61"/>
          <p:cNvSpPr/>
          <p:nvPr/>
        </p:nvSpPr>
        <p:spPr>
          <a:xfrm>
            <a:off x="1125149" y="1431851"/>
            <a:ext cx="1630325" cy="234904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3501;p61">
            <a:extLst>
              <a:ext uri="{FF2B5EF4-FFF2-40B4-BE49-F238E27FC236}">
                <a16:creationId xmlns:a16="http://schemas.microsoft.com/office/drawing/2014/main" id="{917BBA82-AC6E-AFE1-6E9B-209386195C33}"/>
              </a:ext>
            </a:extLst>
          </p:cNvPr>
          <p:cNvSpPr/>
          <p:nvPr/>
        </p:nvSpPr>
        <p:spPr>
          <a:xfrm>
            <a:off x="3643553" y="1338012"/>
            <a:ext cx="1856903" cy="25574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501;p61">
            <a:extLst>
              <a:ext uri="{FF2B5EF4-FFF2-40B4-BE49-F238E27FC236}">
                <a16:creationId xmlns:a16="http://schemas.microsoft.com/office/drawing/2014/main" id="{43973B4D-49CD-01F2-7224-B652E5FB2C9B}"/>
              </a:ext>
            </a:extLst>
          </p:cNvPr>
          <p:cNvSpPr/>
          <p:nvPr/>
        </p:nvSpPr>
        <p:spPr>
          <a:xfrm>
            <a:off x="6275245" y="1293012"/>
            <a:ext cx="1856903" cy="25574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3502;p61">
            <a:extLst>
              <a:ext uri="{FF2B5EF4-FFF2-40B4-BE49-F238E27FC236}">
                <a16:creationId xmlns:a16="http://schemas.microsoft.com/office/drawing/2014/main" id="{74ED908D-96C1-3B46-ADFB-38E9488BC129}"/>
              </a:ext>
            </a:extLst>
          </p:cNvPr>
          <p:cNvSpPr/>
          <p:nvPr/>
        </p:nvSpPr>
        <p:spPr>
          <a:xfrm>
            <a:off x="6388533" y="1384932"/>
            <a:ext cx="1630325" cy="234904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502;p61">
            <a:extLst>
              <a:ext uri="{FF2B5EF4-FFF2-40B4-BE49-F238E27FC236}">
                <a16:creationId xmlns:a16="http://schemas.microsoft.com/office/drawing/2014/main" id="{C5142D72-9F94-391E-F91D-FD91B56E9BAD}"/>
              </a:ext>
            </a:extLst>
          </p:cNvPr>
          <p:cNvSpPr/>
          <p:nvPr/>
        </p:nvSpPr>
        <p:spPr>
          <a:xfrm>
            <a:off x="3756837" y="1442224"/>
            <a:ext cx="1630325" cy="234904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504;p61">
            <a:extLst>
              <a:ext uri="{FF2B5EF4-FFF2-40B4-BE49-F238E27FC236}">
                <a16:creationId xmlns:a16="http://schemas.microsoft.com/office/drawing/2014/main" id="{A4307C9E-AD57-B0D7-077F-05E1FBE6DCC3}"/>
              </a:ext>
            </a:extLst>
          </p:cNvPr>
          <p:cNvSpPr txBox="1">
            <a:spLocks/>
          </p:cNvSpPr>
          <p:nvPr/>
        </p:nvSpPr>
        <p:spPr>
          <a:xfrm>
            <a:off x="6439409" y="1811697"/>
            <a:ext cx="1543050" cy="1610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dirty="0"/>
              <a:t>5 bedroom houses with one bathroom are common in old houses</a:t>
            </a:r>
          </a:p>
        </p:txBody>
      </p:sp>
      <p:sp>
        <p:nvSpPr>
          <p:cNvPr id="15" name="Google Shape;3504;p61">
            <a:extLst>
              <a:ext uri="{FF2B5EF4-FFF2-40B4-BE49-F238E27FC236}">
                <a16:creationId xmlns:a16="http://schemas.microsoft.com/office/drawing/2014/main" id="{28F53DFB-C0B6-CA84-7413-54E3602A64BE}"/>
              </a:ext>
            </a:extLst>
          </p:cNvPr>
          <p:cNvSpPr txBox="1">
            <a:spLocks/>
          </p:cNvSpPr>
          <p:nvPr/>
        </p:nvSpPr>
        <p:spPr>
          <a:xfrm>
            <a:off x="3800476" y="1906416"/>
            <a:ext cx="1543057" cy="133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dirty="0"/>
              <a:t>0ver 60 houses with 3 bathrooms and only 1 bedroom</a:t>
            </a:r>
          </a:p>
        </p:txBody>
      </p:sp>
      <p:sp>
        <p:nvSpPr>
          <p:cNvPr id="16" name="Google Shape;3504;p61">
            <a:extLst>
              <a:ext uri="{FF2B5EF4-FFF2-40B4-BE49-F238E27FC236}">
                <a16:creationId xmlns:a16="http://schemas.microsoft.com/office/drawing/2014/main" id="{B2653F13-7C58-4FB9-84F1-B87CA8B44C0F}"/>
              </a:ext>
            </a:extLst>
          </p:cNvPr>
          <p:cNvSpPr txBox="1">
            <a:spLocks/>
          </p:cNvSpPr>
          <p:nvPr/>
        </p:nvSpPr>
        <p:spPr>
          <a:xfrm>
            <a:off x="1198136" y="1857374"/>
            <a:ext cx="1557338" cy="1428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1800" dirty="0">
                <a:latin typeface="Barlow Semi Condensed" panose="020B0604020202020204" charset="0"/>
                <a:ea typeface="Barlow Semi Condensed"/>
                <a:cs typeface="Barlow Semi Condensed"/>
                <a:sym typeface="Barlow Semi Condensed"/>
              </a:rPr>
              <a:t>House 726</a:t>
            </a:r>
          </a:p>
          <a:p>
            <a:pPr algn="ctr"/>
            <a:r>
              <a:rPr lang="en-GB" sz="1800" dirty="0">
                <a:latin typeface="Barlow Semi Condensed" panose="020B0604020202020204" charset="0"/>
              </a:rPr>
              <a:t>500sqft</a:t>
            </a:r>
          </a:p>
          <a:p>
            <a:pPr algn="ctr"/>
            <a:r>
              <a:rPr lang="en-GB" sz="1800" dirty="0">
                <a:latin typeface="Barlow Semi Condensed" panose="020B0604020202020204" charset="0"/>
                <a:ea typeface="Barlow Semi Condensed"/>
                <a:cs typeface="Barlow Semi Condensed"/>
                <a:sym typeface="Barlow Semi Condensed"/>
              </a:rPr>
              <a:t>5 bedrooms</a:t>
            </a:r>
          </a:p>
          <a:p>
            <a:pPr algn="ctr"/>
            <a:r>
              <a:rPr lang="en-GB" sz="1800" dirty="0">
                <a:latin typeface="Barlow Semi Condensed" panose="020B0604020202020204" charset="0"/>
              </a:rPr>
              <a:t>3 bathrooms</a:t>
            </a:r>
          </a:p>
          <a:p>
            <a:endParaRPr lang="en-GB" sz="18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algn="ctr"/>
            <a:endParaRPr lang="en-GB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p53"/>
          <p:cNvSpPr/>
          <p:nvPr/>
        </p:nvSpPr>
        <p:spPr>
          <a:xfrm>
            <a:off x="1456473" y="1141639"/>
            <a:ext cx="2111251" cy="679073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2" name="Google Shape;3012;p53"/>
          <p:cNvSpPr txBox="1">
            <a:spLocks noGrp="1"/>
          </p:cNvSpPr>
          <p:nvPr>
            <p:ph type="title" idx="4294967295"/>
          </p:nvPr>
        </p:nvSpPr>
        <p:spPr>
          <a:xfrm>
            <a:off x="2215676" y="165100"/>
            <a:ext cx="4706938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 dirty="0"/>
              <a:t>Key Take Aways</a:t>
            </a:r>
            <a:endParaRPr sz="3200" b="1" dirty="0"/>
          </a:p>
        </p:txBody>
      </p:sp>
      <p:sp>
        <p:nvSpPr>
          <p:cNvPr id="3151" name="Google Shape;3151;p53"/>
          <p:cNvSpPr txBox="1">
            <a:spLocks noGrp="1"/>
          </p:cNvSpPr>
          <p:nvPr>
            <p:ph type="subTitle" idx="4294967295"/>
          </p:nvPr>
        </p:nvSpPr>
        <p:spPr>
          <a:xfrm>
            <a:off x="1526608" y="1130866"/>
            <a:ext cx="2128838" cy="708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Larger homes sell </a:t>
            </a:r>
          </a:p>
          <a:p>
            <a:pPr lvl="0"/>
            <a:r>
              <a:rPr lang="en-GB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for significantly more</a:t>
            </a:r>
          </a:p>
        </p:txBody>
      </p:sp>
      <p:sp>
        <p:nvSpPr>
          <p:cNvPr id="144" name="Google Shape;3009;p53">
            <a:extLst>
              <a:ext uri="{FF2B5EF4-FFF2-40B4-BE49-F238E27FC236}">
                <a16:creationId xmlns:a16="http://schemas.microsoft.com/office/drawing/2014/main" id="{9586E1A7-2D32-4144-9D87-F127669682B2}"/>
              </a:ext>
            </a:extLst>
          </p:cNvPr>
          <p:cNvSpPr/>
          <p:nvPr/>
        </p:nvSpPr>
        <p:spPr>
          <a:xfrm>
            <a:off x="1472783" y="2078542"/>
            <a:ext cx="2078505" cy="425436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3151;p53">
            <a:extLst>
              <a:ext uri="{FF2B5EF4-FFF2-40B4-BE49-F238E27FC236}">
                <a16:creationId xmlns:a16="http://schemas.microsoft.com/office/drawing/2014/main" id="{6C2A0480-D738-41BC-9AD2-606E46FA1BF3}"/>
              </a:ext>
            </a:extLst>
          </p:cNvPr>
          <p:cNvSpPr txBox="1">
            <a:spLocks/>
          </p:cNvSpPr>
          <p:nvPr/>
        </p:nvSpPr>
        <p:spPr>
          <a:xfrm>
            <a:off x="1526496" y="2087957"/>
            <a:ext cx="2005354" cy="4254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Segment the Market</a:t>
            </a:r>
          </a:p>
        </p:txBody>
      </p:sp>
      <p:sp>
        <p:nvSpPr>
          <p:cNvPr id="153" name="Google Shape;3009;p53">
            <a:extLst>
              <a:ext uri="{FF2B5EF4-FFF2-40B4-BE49-F238E27FC236}">
                <a16:creationId xmlns:a16="http://schemas.microsoft.com/office/drawing/2014/main" id="{8016946E-5F90-4BCB-97E3-A16F26D3DC17}"/>
              </a:ext>
            </a:extLst>
          </p:cNvPr>
          <p:cNvSpPr/>
          <p:nvPr/>
        </p:nvSpPr>
        <p:spPr>
          <a:xfrm>
            <a:off x="1484216" y="2682581"/>
            <a:ext cx="2078505" cy="944781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3151;p53">
            <a:extLst>
              <a:ext uri="{FF2B5EF4-FFF2-40B4-BE49-F238E27FC236}">
                <a16:creationId xmlns:a16="http://schemas.microsoft.com/office/drawing/2014/main" id="{233D17A9-2CC9-4EF3-A664-66F12E8976F3}"/>
              </a:ext>
            </a:extLst>
          </p:cNvPr>
          <p:cNvSpPr txBox="1">
            <a:spLocks/>
          </p:cNvSpPr>
          <p:nvPr/>
        </p:nvSpPr>
        <p:spPr>
          <a:xfrm>
            <a:off x="1509083" y="2769032"/>
            <a:ext cx="2047410" cy="785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Re-evaluate </a:t>
            </a:r>
          </a:p>
          <a:p>
            <a:r>
              <a:rPr lang="en-GB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Neighbourhood Data</a:t>
            </a:r>
          </a:p>
        </p:txBody>
      </p:sp>
      <p:sp>
        <p:nvSpPr>
          <p:cNvPr id="155" name="Google Shape;3009;p53">
            <a:extLst>
              <a:ext uri="{FF2B5EF4-FFF2-40B4-BE49-F238E27FC236}">
                <a16:creationId xmlns:a16="http://schemas.microsoft.com/office/drawing/2014/main" id="{6E6129C6-B658-4277-A33D-B7ACCD17AFEC}"/>
              </a:ext>
            </a:extLst>
          </p:cNvPr>
          <p:cNvSpPr/>
          <p:nvPr/>
        </p:nvSpPr>
        <p:spPr>
          <a:xfrm>
            <a:off x="1483761" y="3824373"/>
            <a:ext cx="2559878" cy="73582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3151;p53">
            <a:extLst>
              <a:ext uri="{FF2B5EF4-FFF2-40B4-BE49-F238E27FC236}">
                <a16:creationId xmlns:a16="http://schemas.microsoft.com/office/drawing/2014/main" id="{8F3F1DEB-AA96-473A-9EC6-6DF98FBA12BB}"/>
              </a:ext>
            </a:extLst>
          </p:cNvPr>
          <p:cNvSpPr txBox="1">
            <a:spLocks/>
          </p:cNvSpPr>
          <p:nvPr/>
        </p:nvSpPr>
        <p:spPr>
          <a:xfrm>
            <a:off x="1495164" y="3818694"/>
            <a:ext cx="2548475" cy="656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Target Families and </a:t>
            </a:r>
          </a:p>
          <a:p>
            <a:r>
              <a:rPr lang="en-GB" sz="1800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Upsell Bathroom Upgrades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51113B2-E3C8-4C11-B4EE-3D1DEF9783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2015" y="1006636"/>
            <a:ext cx="3618034" cy="36180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push dir="u"/>
      </p:transition>
    </mc:Choice>
    <mc:Fallback>
      <p:transition spd="slow"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00A1-A105-48E1-A78D-86E0A151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7435" y="2007615"/>
            <a:ext cx="4403657" cy="1902000"/>
          </a:xfrm>
        </p:spPr>
        <p:txBody>
          <a:bodyPr/>
          <a:lstStyle/>
          <a:p>
            <a:r>
              <a:rPr lang="en-GB" dirty="0"/>
              <a:t>Coffee Time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D59A72-CD7C-4053-B8CF-0C46FA78244A}"/>
              </a:ext>
            </a:extLst>
          </p:cNvPr>
          <p:cNvSpPr txBox="1">
            <a:spLocks/>
          </p:cNvSpPr>
          <p:nvPr/>
        </p:nvSpPr>
        <p:spPr>
          <a:xfrm>
            <a:off x="2624326" y="540800"/>
            <a:ext cx="4403657" cy="19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73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Fjalla One"/>
              <a:buNone/>
              <a:defRPr sz="60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GB" dirty="0"/>
              <a:t>It’s…</a:t>
            </a:r>
          </a:p>
        </p:txBody>
      </p:sp>
    </p:spTree>
    <p:extLst>
      <p:ext uri="{BB962C8B-B14F-4D97-AF65-F5344CB8AC3E}">
        <p14:creationId xmlns:p14="http://schemas.microsoft.com/office/powerpoint/2010/main" val="4048042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45ae54-380d-4611-954f-dcef97bc3d3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054030CD46C543A83109905B810AF8" ma:contentTypeVersion="4" ma:contentTypeDescription="Create a new document." ma:contentTypeScope="" ma:versionID="cef160fbf5694e638998e040ffe26431">
  <xsd:schema xmlns:xsd="http://www.w3.org/2001/XMLSchema" xmlns:xs="http://www.w3.org/2001/XMLSchema" xmlns:p="http://schemas.microsoft.com/office/2006/metadata/properties" xmlns:ns3="0745ae54-380d-4611-954f-dcef97bc3d3b" targetNamespace="http://schemas.microsoft.com/office/2006/metadata/properties" ma:root="true" ma:fieldsID="f2c7cbf4ade963c092f25a606ecc412e" ns3:_="">
    <xsd:import namespace="0745ae54-380d-4611-954f-dcef97bc3d3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5ae54-380d-4611-954f-dcef97bc3d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BA469F-A02B-4066-802D-A26AE96B66B7}">
  <ds:schemaRefs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0745ae54-380d-4611-954f-dcef97bc3d3b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F8F706A-C9E6-482B-BEFA-6766DBD30B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3A7E80-8376-4D46-BAE6-0A01CD4CFA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45ae54-380d-4611-954f-dcef97bc3d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2831</TotalTime>
  <Words>196</Words>
  <Application>Microsoft Office PowerPoint</Application>
  <PresentationFormat>On-screen Show (16:9)</PresentationFormat>
  <Paragraphs>73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Barlow Semi Condensed Medium</vt:lpstr>
      <vt:lpstr>Fjalla One</vt:lpstr>
      <vt:lpstr>Barlow Semi Condensed</vt:lpstr>
      <vt:lpstr>Technology Consulting by Slidesgo</vt:lpstr>
      <vt:lpstr>HOMEVALUE  ANALYTICS    Analysing House Prices  for Smarter  Pricing Decisions</vt:lpstr>
      <vt:lpstr>Presentation Outline</vt:lpstr>
      <vt:lpstr>PowerPoint Presentation</vt:lpstr>
      <vt:lpstr>PowerPoint Presentation</vt:lpstr>
      <vt:lpstr>PowerPoint Presentation</vt:lpstr>
      <vt:lpstr>PowerPoint Presentation</vt:lpstr>
      <vt:lpstr>Mid-Market Strategy</vt:lpstr>
      <vt:lpstr>House Price  Predictions</vt:lpstr>
      <vt:lpstr>Other Findings </vt:lpstr>
      <vt:lpstr>Key Take Aways</vt:lpstr>
      <vt:lpstr>Coffee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Consulting</dc:title>
  <dc:creator>hp'</dc:creator>
  <cp:lastModifiedBy>Paulo Wabwire</cp:lastModifiedBy>
  <cp:revision>59</cp:revision>
  <dcterms:modified xsi:type="dcterms:W3CDTF">2025-03-21T06:33:43Z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0x010100FD054030CD46C543A83109905B810AF8</vt:lpwstr>
  </property>
</Properties>
</file>